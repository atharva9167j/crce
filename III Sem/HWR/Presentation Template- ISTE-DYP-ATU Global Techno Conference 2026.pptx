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9"/>
  </p:notesMasterIdLst>
  <p:sldIdLst>
    <p:sldId id="279" r:id="rId3"/>
    <p:sldId id="319" r:id="rId4"/>
    <p:sldId id="366" r:id="rId5"/>
    <p:sldId id="367" r:id="rId6"/>
    <p:sldId id="374" r:id="rId7"/>
    <p:sldId id="375" r:id="rId8"/>
    <p:sldId id="373" r:id="rId9"/>
    <p:sldId id="257" r:id="rId10"/>
    <p:sldId id="258" r:id="rId11"/>
    <p:sldId id="259" r:id="rId12"/>
    <p:sldId id="260" r:id="rId13"/>
    <p:sldId id="261" r:id="rId14"/>
    <p:sldId id="369" r:id="rId15"/>
    <p:sldId id="370" r:id="rId16"/>
    <p:sldId id="371" r:id="rId17"/>
    <p:sldId id="372" r:id="rId18"/>
  </p:sldIdLst>
  <p:sldSz cx="12192000" cy="6858000"/>
  <p:notesSz cx="6889750" cy="10021888"/>
  <p:embeddedFontLst>
    <p:embeddedFont>
      <p:font typeface="Josefin Sans" pitchFamily="2" charset="0"/>
      <p:regular r:id="rId20"/>
      <p:bold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Lora" pitchFamily="2" charset="0"/>
      <p:regular r:id="rId26"/>
      <p:bold r:id="rId27"/>
      <p:italic r:id="rId28"/>
      <p:boldItalic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Nunito" pitchFamily="2" charset="0"/>
      <p:regular r:id="rId34"/>
      <p:bold r:id="rId35"/>
      <p:italic r:id="rId36"/>
      <p:boldItalic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Playfair Display" panose="00000500000000000000" pitchFamily="2" charset="0"/>
      <p:regular r:id="rId42"/>
      <p:bold r:id="rId43"/>
      <p:italic r:id="rId44"/>
      <p:boldItalic r:id="rId45"/>
    </p:embeddedFont>
    <p:embeddedFont>
      <p:font typeface="Raleway" pitchFamily="2" charset="0"/>
      <p:regular r:id="rId46"/>
      <p:bold r:id="rId47"/>
      <p:italic r:id="rId48"/>
      <p:boldItalic r:id="rId49"/>
    </p:embeddedFont>
    <p:embeddedFont>
      <p:font typeface="Roboto" panose="02000000000000000000" pitchFamily="2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8" roundtripDataSignature="AMtx7mgj63A6WZPPDyBR2fe9h0gEGbVH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350F"/>
    <a:srgbClr val="B75B28"/>
    <a:srgbClr val="0F3C75"/>
    <a:srgbClr val="FFFFFF"/>
    <a:srgbClr val="3B7246"/>
    <a:srgbClr val="6EA3C1"/>
    <a:srgbClr val="FEB44C"/>
    <a:srgbClr val="2C5881"/>
    <a:srgbClr val="11293D"/>
    <a:srgbClr val="132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07CCD9-B201-439B-B1EF-90C1143E229E}">
  <a:tblStyle styleId="{D407CCD9-B201-439B-B1EF-90C1143E229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4660"/>
  </p:normalViewPr>
  <p:slideViewPr>
    <p:cSldViewPr snapToGrid="0">
      <p:cViewPr varScale="1">
        <p:scale>
          <a:sx n="89" d="100"/>
          <a:sy n="89" d="100"/>
        </p:scale>
        <p:origin x="821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font" Target="fonts/font28.fntdata"/><Relationship Id="rId50" Type="http://schemas.openxmlformats.org/officeDocument/2006/relationships/font" Target="fonts/font31.fntdata"/><Relationship Id="rId68" Type="http://customschemas.google.com/relationships/presentationmetadata" Target="metadata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10.fntdata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font" Target="fonts/font26.fntdata"/><Relationship Id="rId53" Type="http://schemas.openxmlformats.org/officeDocument/2006/relationships/font" Target="fonts/font34.fntdata"/><Relationship Id="rId5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openxmlformats.org/officeDocument/2006/relationships/font" Target="fonts/font29.fntdata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32.fntdata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font" Target="fonts/font27.fntdata"/><Relationship Id="rId20" Type="http://schemas.openxmlformats.org/officeDocument/2006/relationships/font" Target="fonts/font1.fntdata"/><Relationship Id="rId41" Type="http://schemas.openxmlformats.org/officeDocument/2006/relationships/font" Target="fonts/font22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openxmlformats.org/officeDocument/2006/relationships/font" Target="fonts/font30.fntdata"/><Relationship Id="rId10" Type="http://schemas.openxmlformats.org/officeDocument/2006/relationships/slide" Target="slides/slide8.xml"/><Relationship Id="rId31" Type="http://schemas.openxmlformats.org/officeDocument/2006/relationships/font" Target="fonts/font12.fntdata"/><Relationship Id="rId44" Type="http://schemas.openxmlformats.org/officeDocument/2006/relationships/font" Target="fonts/font25.fntdata"/><Relationship Id="rId52" Type="http://schemas.openxmlformats.org/officeDocument/2006/relationships/font" Target="fonts/font3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02242" y="1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360" y="4759814"/>
            <a:ext cx="5513032" cy="45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19628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02242" y="9519628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ts val="1200"/>
              </a:pPr>
              <a:t>‹#›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37645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8360" y="4759814"/>
            <a:ext cx="5513032" cy="45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6181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2660AA48-F5A4-12D6-0E6F-41FEDBFD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83301B0-56E6-6BDF-C92F-7948E6F78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B3CEAA26-1776-25AC-3EAE-399F781C73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360" y="4759814"/>
            <a:ext cx="5513032" cy="45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rmAutofit/>
          </a:bodyPr>
          <a:lstStyle/>
          <a:p>
            <a:pPr marL="0" indent="0"/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64B02675-AC89-0AB1-6FF4-6A4E3F3B02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02242" y="9519628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b" anchorCtr="0">
            <a:noAutofit/>
          </a:bodyPr>
          <a:lstStyle/>
          <a:p>
            <a:pPr algn="r" defTabSz="914491">
              <a:buSzPts val="1400"/>
              <a:defRPr/>
            </a:pPr>
            <a:fld id="{00000000-1234-1234-1234-123412341234}" type="slidenum">
              <a:rPr lang="en-US"/>
              <a:pPr algn="r" defTabSz="914491">
                <a:buSzPts val="1400"/>
                <a:defRPr/>
              </a:pPr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1195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AFDD890F-D2EF-AA40-5C5E-A2DA2DBC9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CE10F2D-2C4B-D4C2-FD29-600A956B7D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DDA7EA40-4918-8E43-0750-CB378FB2B2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360" y="4759814"/>
            <a:ext cx="5513032" cy="45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rmAutofit/>
          </a:bodyPr>
          <a:lstStyle/>
          <a:p>
            <a:pPr marL="0" indent="0"/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734157C1-A526-69F1-B2BC-6DBA34DFF2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02242" y="9519628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b" anchorCtr="0">
            <a:noAutofit/>
          </a:bodyPr>
          <a:lstStyle/>
          <a:p>
            <a:pPr algn="r" defTabSz="914491">
              <a:buSzPts val="1400"/>
              <a:defRPr/>
            </a:pPr>
            <a:fld id="{00000000-1234-1234-1234-123412341234}" type="slidenum">
              <a:rPr lang="en-US"/>
              <a:pPr algn="r" defTabSz="914491">
                <a:buSzPts val="1400"/>
                <a:defRPr/>
              </a:pPr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3182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7D6036C3-CA5D-5BC5-442B-30835B97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60734D8-C723-2155-4168-701514F6D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C5F1A85F-6AFA-6793-9A44-CFEDFF52F8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360" y="4759814"/>
            <a:ext cx="5513032" cy="45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rmAutofit/>
          </a:bodyPr>
          <a:lstStyle/>
          <a:p>
            <a:pPr marL="0" indent="0"/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98B2EE21-0E82-71BB-3998-36FDD41FA0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02242" y="9519628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b" anchorCtr="0">
            <a:noAutofit/>
          </a:bodyPr>
          <a:lstStyle/>
          <a:p>
            <a:pPr algn="r" defTabSz="914491">
              <a:buSzPts val="1400"/>
              <a:defRPr/>
            </a:pPr>
            <a:fld id="{00000000-1234-1234-1234-123412341234}" type="slidenum">
              <a:rPr lang="en-US"/>
              <a:pPr algn="r" defTabSz="914491">
                <a:buSzPts val="1400"/>
                <a:defRPr/>
              </a:pPr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4636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004616C-17F1-52F8-F53F-EA49CC45F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E52B9021-557C-258D-64FC-CBB71B7F0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6B2B486-B48A-55D7-A7B6-F15E00B29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360" y="4759814"/>
            <a:ext cx="5513032" cy="45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rmAutofit/>
          </a:bodyPr>
          <a:lstStyle/>
          <a:p>
            <a:pPr marL="0" indent="0"/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3439CFF5-D40E-5B46-8CAC-F01BCA8960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02242" y="9519628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b" anchorCtr="0">
            <a:noAutofit/>
          </a:bodyPr>
          <a:lstStyle/>
          <a:p>
            <a:pPr algn="r" defTabSz="914491">
              <a:buSzPts val="1400"/>
              <a:defRPr/>
            </a:pPr>
            <a:fld id="{00000000-1234-1234-1234-123412341234}" type="slidenum">
              <a:rPr lang="en-US"/>
              <a:pPr algn="r" defTabSz="914491">
                <a:buSzPts val="1400"/>
                <a:defRPr/>
              </a:pPr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0303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AC38A6D-C407-3A87-75E6-E693EF11F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2BF4975-FF73-451E-79B3-4551EB31C4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A2E9CD08-7E8D-6CBF-43C4-5264EFEDE1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360" y="4759814"/>
            <a:ext cx="5513032" cy="45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rmAutofit/>
          </a:bodyPr>
          <a:lstStyle/>
          <a:p>
            <a:pPr marL="0" indent="0"/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7331F554-F498-ADFE-B122-FF75DF2470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02242" y="9519628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b" anchorCtr="0">
            <a:noAutofit/>
          </a:bodyPr>
          <a:lstStyle/>
          <a:p>
            <a:pPr algn="r" defTabSz="914491">
              <a:buSzPts val="1400"/>
              <a:defRPr/>
            </a:pPr>
            <a:fld id="{00000000-1234-1234-1234-123412341234}" type="slidenum">
              <a:rPr lang="en-US"/>
              <a:pPr algn="r" defTabSz="914491">
                <a:buSzPts val="1400"/>
                <a:defRPr/>
              </a:pPr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3593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9A4EC340-D826-2D9F-EAB3-8A35F0E61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CC7FEF27-77C2-8AF1-450D-3666FFE78B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03C8685C-0E12-DDC3-4D42-813B6CB93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360" y="4759814"/>
            <a:ext cx="5513032" cy="45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rmAutofit/>
          </a:bodyPr>
          <a:lstStyle/>
          <a:p>
            <a:pPr marL="0" indent="0"/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6A506062-4B43-636A-4205-BB1E985251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02242" y="9519628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b" anchorCtr="0">
            <a:noAutofit/>
          </a:bodyPr>
          <a:lstStyle/>
          <a:p>
            <a:pPr algn="r" defTabSz="914491">
              <a:buSzPts val="1400"/>
              <a:defRPr/>
            </a:pPr>
            <a:fld id="{00000000-1234-1234-1234-123412341234}" type="slidenum">
              <a:rPr lang="en-US"/>
              <a:pPr algn="r" defTabSz="914491">
                <a:buSzPts val="1400"/>
                <a:defRPr/>
              </a:pPr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8460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057F8853-48E4-9CB7-8786-1CF135019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66AA820-C48F-BE9D-5DAF-584365E76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3F4364D-A7DC-D70C-5393-897CD2E6E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360" y="4759814"/>
            <a:ext cx="5513032" cy="45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rmAutofit/>
          </a:bodyPr>
          <a:lstStyle/>
          <a:p>
            <a:pPr marL="0" indent="0"/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A3EC53A-E180-54D2-220F-BF15DF5543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02242" y="9519628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b" anchorCtr="0">
            <a:noAutofit/>
          </a:bodyPr>
          <a:lstStyle/>
          <a:p>
            <a:pPr algn="r" defTabSz="914491">
              <a:buSzPts val="1400"/>
              <a:defRPr/>
            </a:pPr>
            <a:fld id="{00000000-1234-1234-1234-123412341234}" type="slidenum">
              <a:rPr lang="en-US"/>
              <a:pPr algn="r" defTabSz="914491">
                <a:buSzPts val="1400"/>
                <a:defRPr/>
              </a:pPr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9421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3BC93F2B-9C38-DDC8-AC22-3C8A00348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E73E66F-75F5-D480-81D5-6298D3E274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4029DCE-D1A9-D792-3FB5-5A2D6C9AE3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360" y="4759814"/>
            <a:ext cx="5513032" cy="45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rmAutofit/>
          </a:bodyPr>
          <a:lstStyle/>
          <a:p>
            <a:pPr marL="0" indent="0"/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8A6FCE9-F9EF-F90B-6670-FED8396430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02242" y="9519628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b" anchorCtr="0">
            <a:noAutofit/>
          </a:bodyPr>
          <a:lstStyle/>
          <a:p>
            <a:pPr algn="r" defTabSz="914491">
              <a:buSzPts val="1400"/>
              <a:defRPr/>
            </a:pPr>
            <a:fld id="{00000000-1234-1234-1234-123412341234}" type="slidenum">
              <a:rPr lang="en-US"/>
              <a:pPr algn="r" defTabSz="914491">
                <a:buSzPts val="1400"/>
                <a:defRPr/>
              </a:pPr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0898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375EA36D-053D-E924-1B38-B704DDDD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6B52F24-50EF-21DD-0965-E4E312F67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732FAEB-969B-11A7-E670-54B43C4230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360" y="4759814"/>
            <a:ext cx="5513032" cy="45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rmAutofit/>
          </a:bodyPr>
          <a:lstStyle/>
          <a:p>
            <a:pPr marL="0" indent="0"/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0AE0F0E-F434-8682-3CC1-8FDB70192F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02242" y="9519628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b" anchorCtr="0">
            <a:noAutofit/>
          </a:bodyPr>
          <a:lstStyle/>
          <a:p>
            <a:pPr algn="r" defTabSz="914491">
              <a:buSzPts val="1400"/>
              <a:defRPr/>
            </a:pPr>
            <a:fld id="{00000000-1234-1234-1234-123412341234}" type="slidenum">
              <a:rPr lang="en-US"/>
              <a:pPr algn="r" defTabSz="914491">
                <a:buSzPts val="1400"/>
                <a:defRPr/>
              </a:pPr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3533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8FF86680-D04C-1172-A378-55ED251B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C928040-E278-F965-C63F-6A1E76465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43DF559-8ED9-72B5-77B7-9E30411941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360" y="4759814"/>
            <a:ext cx="5513032" cy="45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t" anchorCtr="0">
            <a:normAutofit/>
          </a:bodyPr>
          <a:lstStyle/>
          <a:p>
            <a:pPr marL="0" indent="0"/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972A14D6-E09E-450B-52DE-E3A21A67D0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02242" y="9519628"/>
            <a:ext cx="2985970" cy="5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84" tIns="44579" rIns="89184" bIns="44579" anchor="b" anchorCtr="0">
            <a:noAutofit/>
          </a:bodyPr>
          <a:lstStyle/>
          <a:p>
            <a:pPr algn="r" defTabSz="914491">
              <a:buSzPts val="1400"/>
              <a:defRPr/>
            </a:pPr>
            <a:fld id="{00000000-1234-1234-1234-123412341234}" type="slidenum">
              <a:rPr lang="en-US"/>
              <a:pPr algn="r" defTabSz="914491">
                <a:buSzPts val="1400"/>
                <a:defRPr/>
              </a:pPr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888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28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8235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8828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589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293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005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931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5162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354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70144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111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13120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.pn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svg"/><Relationship Id="rId11" Type="http://schemas.openxmlformats.org/officeDocument/2006/relationships/image" Target="../media/image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11" Type="http://schemas.openxmlformats.org/officeDocument/2006/relationships/image" Target="../media/image3.png"/><Relationship Id="rId5" Type="http://schemas.openxmlformats.org/officeDocument/2006/relationships/image" Target="../media/image35.svg"/><Relationship Id="rId10" Type="http://schemas.openxmlformats.org/officeDocument/2006/relationships/image" Target="../media/image40.sv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4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2964469" y="1887083"/>
            <a:ext cx="8402326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Lato"/>
              <a:buNone/>
            </a:pPr>
            <a:br>
              <a:rPr lang="en-US" sz="48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4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Presentation </a:t>
            </a:r>
            <a:br>
              <a:rPr lang="en-US" sz="4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4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on</a:t>
            </a:r>
            <a:br>
              <a:rPr lang="en-US" sz="46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46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600" b="1" dirty="0">
                <a:solidFill>
                  <a:srgbClr val="ED7D31"/>
                </a:solidFill>
                <a:latin typeface="Lato"/>
                <a:ea typeface="Lato"/>
                <a:cs typeface="Lato"/>
                <a:sym typeface="Lato"/>
              </a:rPr>
              <a:t>Windows Bypass Techniques: A Red Teamer’s Perspective</a:t>
            </a:r>
            <a:endParaRPr sz="4600" dirty="0">
              <a:solidFill>
                <a:srgbClr val="ED7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2150987" y="4096883"/>
            <a:ext cx="10029290" cy="148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800"/>
              <a:buNone/>
            </a:pPr>
            <a:r>
              <a:rPr lang="en-US" sz="20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Mr. Atharva Jagtap, Dr. Prachi Dalvi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800"/>
              <a:buNone/>
            </a:pPr>
            <a:r>
              <a:rPr lang="en-US" sz="20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Paper Id: ISTE-ATU-145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800"/>
              <a:buNone/>
            </a:pPr>
            <a:endParaRPr lang="en-US" sz="20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800"/>
              <a:buNone/>
            </a:pPr>
            <a:r>
              <a:rPr lang="en-US" sz="2800" b="1" dirty="0">
                <a:solidFill>
                  <a:srgbClr val="ED7D31"/>
                </a:solidFill>
                <a:latin typeface="Lato" panose="020F0502020204030203" pitchFamily="34" charset="0"/>
                <a:sym typeface="Bell MT"/>
              </a:rPr>
              <a:t>ISTE Global Techno 2026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800"/>
              <a:buNone/>
            </a:pPr>
            <a:r>
              <a:rPr lang="en-US" b="1" dirty="0">
                <a:solidFill>
                  <a:srgbClr val="ED7D31"/>
                </a:solidFill>
                <a:latin typeface="Lato" panose="020F0502020204030203" pitchFamily="34" charset="0"/>
                <a:sym typeface="Bell MT"/>
              </a:rPr>
              <a:t>The First Global Conference on Engineering, Technology, and Education</a:t>
            </a:r>
            <a:endParaRPr lang="en-US" dirty="0">
              <a:latin typeface="Lato" panose="020F0502020204030203" pitchFamily="3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D. Y. Patil Agriculture &amp; Technical University, Talsande</a:t>
            </a:r>
            <a:endParaRPr sz="2800" dirty="0"/>
          </a:p>
        </p:txBody>
      </p:sp>
      <p:sp>
        <p:nvSpPr>
          <p:cNvPr id="90" name="Google Shape;90;p1"/>
          <p:cNvSpPr/>
          <p:nvPr/>
        </p:nvSpPr>
        <p:spPr>
          <a:xfrm>
            <a:off x="4806096" y="5130871"/>
            <a:ext cx="499241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59E84D-7C05-9204-EBA1-CBB1CC1B8114}"/>
              </a:ext>
            </a:extLst>
          </p:cNvPr>
          <p:cNvSpPr/>
          <p:nvPr/>
        </p:nvSpPr>
        <p:spPr>
          <a:xfrm>
            <a:off x="8897815" y="11723"/>
            <a:ext cx="3282462" cy="1486034"/>
          </a:xfrm>
          <a:prstGeom prst="rect">
            <a:avLst/>
          </a:prstGeom>
          <a:solidFill>
            <a:srgbClr val="0F3C75"/>
          </a:solidFill>
          <a:ln>
            <a:solidFill>
              <a:srgbClr val="0F3C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667FA-590A-BDE2-2174-8F3A7A383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4186" y="362567"/>
            <a:ext cx="7497099" cy="13383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E73A81F-656C-38AA-FB98-F1CD22AC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>
            <a:extLst>
              <a:ext uri="{FF2B5EF4-FFF2-40B4-BE49-F238E27FC236}">
                <a16:creationId xmlns:a16="http://schemas.microsoft.com/office/drawing/2014/main" id="{E595CEAE-EA77-BB97-5366-4093284136C4}"/>
              </a:ext>
            </a:extLst>
          </p:cNvPr>
          <p:cNvSpPr/>
          <p:nvPr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4B1CC09B-4627-4548-7FDF-50F3E3EEAF1A}"/>
              </a:ext>
            </a:extLst>
          </p:cNvPr>
          <p:cNvSpPr/>
          <p:nvPr/>
        </p:nvSpPr>
        <p:spPr>
          <a:xfrm>
            <a:off x="335661" y="3150561"/>
            <a:ext cx="11261771" cy="1670386"/>
          </a:xfrm>
          <a:prstGeom prst="rect">
            <a:avLst/>
          </a:prstGeom>
          <a:solidFill>
            <a:srgbClr val="FFFFFF"/>
          </a:solidFill>
          <a:ln w="4313">
            <a:solidFill>
              <a:srgbClr val="1C1917">
                <a:alpha val="20000"/>
              </a:srgbClr>
            </a:solidFill>
            <a:prstDash val="solid"/>
          </a:ln>
          <a:effectLst>
            <a:outerShdw blurRad="9525" dist="4763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83BF3F4E-91AF-3278-22C5-410E3CEBC64A}"/>
              </a:ext>
            </a:extLst>
          </p:cNvPr>
          <p:cNvSpPr/>
          <p:nvPr/>
        </p:nvSpPr>
        <p:spPr>
          <a:xfrm>
            <a:off x="335662" y="4965541"/>
            <a:ext cx="11261770" cy="1547402"/>
          </a:xfrm>
          <a:prstGeom prst="rect">
            <a:avLst/>
          </a:prstGeom>
          <a:solidFill>
            <a:srgbClr val="FFFFFF"/>
          </a:solidFill>
          <a:ln w="4313">
            <a:solidFill>
              <a:srgbClr val="1C1917">
                <a:alpha val="20000"/>
              </a:srgbClr>
            </a:solidFill>
            <a:prstDash val="solid"/>
          </a:ln>
          <a:effectLst>
            <a:outerShdw blurRad="9525" dist="4763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7CA32122-5499-2C4C-18A4-72B2F9D58EFE}"/>
              </a:ext>
            </a:extLst>
          </p:cNvPr>
          <p:cNvSpPr/>
          <p:nvPr/>
        </p:nvSpPr>
        <p:spPr>
          <a:xfrm>
            <a:off x="335663" y="1345188"/>
            <a:ext cx="11261771" cy="1670386"/>
          </a:xfrm>
          <a:prstGeom prst="rect">
            <a:avLst/>
          </a:prstGeom>
          <a:solidFill>
            <a:srgbClr val="FFFFFF"/>
          </a:solidFill>
          <a:ln w="4313">
            <a:solidFill>
              <a:srgbClr val="1C1917">
                <a:alpha val="20000"/>
              </a:srgbClr>
            </a:solidFill>
            <a:prstDash val="solid"/>
          </a:ln>
          <a:effectLst>
            <a:outerShdw blurRad="9525" dist="4763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F15D4F-0B5C-BD16-520B-D55786965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sp>
        <p:nvSpPr>
          <p:cNvPr id="4" name="Google Shape;97;p2">
            <a:extLst>
              <a:ext uri="{FF2B5EF4-FFF2-40B4-BE49-F238E27FC236}">
                <a16:creationId xmlns:a16="http://schemas.microsoft.com/office/drawing/2014/main" id="{F4B06EBF-5601-F549-219D-ECF61587BDD5}"/>
              </a:ext>
            </a:extLst>
          </p:cNvPr>
          <p:cNvSpPr txBox="1"/>
          <p:nvPr/>
        </p:nvSpPr>
        <p:spPr>
          <a:xfrm>
            <a:off x="589830" y="174611"/>
            <a:ext cx="8855294" cy="66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INTRODUCTION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ato"/>
              <a:ea typeface="Lato"/>
              <a:cs typeface="Lato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BE286-FD33-47A7-6A80-B0A500070206}"/>
              </a:ext>
            </a:extLst>
          </p:cNvPr>
          <p:cNvSpPr txBox="1"/>
          <p:nvPr/>
        </p:nvSpPr>
        <p:spPr>
          <a:xfrm>
            <a:off x="432456" y="1521776"/>
            <a:ext cx="34438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chemeClr val="tx1"/>
                </a:solidFill>
                <a:effectLst/>
                <a:latin typeface="Nunito" pitchFamily="2" charset="0"/>
              </a:rPr>
              <a:t>Evolution of Authentication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5DA3A8-80B3-FD16-2BF8-61B1A1B20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9316928E-73CE-450D-7078-F31F803DDB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4339" y="1338363"/>
            <a:ext cx="3260035" cy="6661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032A744-FE31-D172-110B-4DD5CC978413}"/>
              </a:ext>
            </a:extLst>
          </p:cNvPr>
          <p:cNvSpPr txBox="1"/>
          <p:nvPr/>
        </p:nvSpPr>
        <p:spPr>
          <a:xfrm>
            <a:off x="416749" y="3339224"/>
            <a:ext cx="34438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Nunito" pitchFamily="2" charset="0"/>
              </a:rPr>
              <a:t>The Operational Challenge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D0B343-629E-36D3-A7B5-BC2A5C537D8C}"/>
              </a:ext>
            </a:extLst>
          </p:cNvPr>
          <p:cNvSpPr txBox="1"/>
          <p:nvPr/>
        </p:nvSpPr>
        <p:spPr>
          <a:xfrm>
            <a:off x="524335" y="5144683"/>
            <a:ext cx="108071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Nunito" pitchFamily="2" charset="0"/>
              </a:rPr>
              <a:t>Traditional Methods Fail</a:t>
            </a:r>
          </a:p>
          <a:p>
            <a:pPr algn="just"/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Nunito" pitchFamily="2" charset="0"/>
            </a:endParaRPr>
          </a:p>
          <a:p>
            <a:pPr algn="just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Legacy "offline" attacks (e.g., SAM database modification) are destructive, break chain-of-custody, and are now rendered ineffective by 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BitLocker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 and 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Secure Boot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.</a:t>
            </a:r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421B6443-5D34-77BD-A3BD-1CE7AC96CE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632" y="3143735"/>
            <a:ext cx="3260035" cy="666187"/>
          </a:xfrm>
          <a:prstGeom prst="rect">
            <a:avLst/>
          </a:prstGeom>
        </p:spPr>
      </p:pic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1A9A42CA-492F-34F6-3F56-5FAA7106F2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633" y="4972367"/>
            <a:ext cx="3260035" cy="66618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2ED5667-ADB6-FA6B-6AF1-6C796E5CAFA6}"/>
              </a:ext>
            </a:extLst>
          </p:cNvPr>
          <p:cNvSpPr txBox="1"/>
          <p:nvPr/>
        </p:nvSpPr>
        <p:spPr>
          <a:xfrm>
            <a:off x="508631" y="3826769"/>
            <a:ext cx="108228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Nunito" pitchFamily="2" charset="0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Nunito" pitchFamily="2" charset="0"/>
                <a:cs typeface="Arial"/>
                <a:sym typeface="Arial"/>
              </a:rPr>
              <a:t>Digital forensic analysts and Red Teams require 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Nunito" pitchFamily="2" charset="0"/>
                <a:cs typeface="Arial"/>
                <a:sym typeface="Arial"/>
              </a:rPr>
              <a:t>non-destructive access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Nunito" pitchFamily="2" charset="0"/>
                <a:cs typeface="Arial"/>
                <a:sym typeface="Arial"/>
              </a:rPr>
              <a:t> to live systems to capture volatile artifacts (RAM, session tokens) without altering the system state or alerting defenders.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614F57-43C4-ED05-7AF8-8313AE51D0E0}"/>
              </a:ext>
            </a:extLst>
          </p:cNvPr>
          <p:cNvSpPr txBox="1"/>
          <p:nvPr/>
        </p:nvSpPr>
        <p:spPr>
          <a:xfrm>
            <a:off x="524339" y="2053813"/>
            <a:ext cx="1080715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Nunito" pitchFamily="2" charset="0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Nunito" pitchFamily="2" charset="0"/>
                <a:cs typeface="Arial"/>
                <a:sym typeface="Arial"/>
              </a:rPr>
              <a:t>Windows security has transitioned from simple password-based models to complex, hardware-integrated frameworks utilizing 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Nunito" pitchFamily="2" charset="0"/>
                <a:cs typeface="Arial"/>
                <a:sym typeface="Arial"/>
              </a:rPr>
              <a:t>Windows Hello, TPM, and Virtualization-Based Security (VBS).</a:t>
            </a:r>
          </a:p>
        </p:txBody>
      </p:sp>
    </p:spTree>
    <p:extLst>
      <p:ext uri="{BB962C8B-B14F-4D97-AF65-F5344CB8AC3E}">
        <p14:creationId xmlns:p14="http://schemas.microsoft.com/office/powerpoint/2010/main" val="1107459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34D6903-708B-B2E0-B90D-35150FF1B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FF2B5EF4-FFF2-40B4-BE49-F238E27FC236}">
                <a16:creationId xmlns:a16="http://schemas.microsoft.com/office/drawing/2014/main" id="{F609500E-2AB8-E47E-BAA7-D62B6E8B15E9}"/>
              </a:ext>
            </a:extLst>
          </p:cNvPr>
          <p:cNvSpPr/>
          <p:nvPr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rgbClr val="F5F5F4"/>
          </a:solidFill>
          <a:ln/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974146-E7F0-455C-952A-A7917D7A4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sp>
        <p:nvSpPr>
          <p:cNvPr id="4" name="Google Shape;97;p2">
            <a:extLst>
              <a:ext uri="{FF2B5EF4-FFF2-40B4-BE49-F238E27FC236}">
                <a16:creationId xmlns:a16="http://schemas.microsoft.com/office/drawing/2014/main" id="{ADE207CB-EBBA-A209-935B-88ACB9B4E538}"/>
              </a:ext>
            </a:extLst>
          </p:cNvPr>
          <p:cNvSpPr txBox="1"/>
          <p:nvPr/>
        </p:nvSpPr>
        <p:spPr>
          <a:xfrm>
            <a:off x="597877" y="220467"/>
            <a:ext cx="8855294" cy="66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Aft>
                <a:spcPts val="600"/>
              </a:spcAft>
              <a:buSzPts val="2800"/>
              <a:defRPr/>
            </a:pPr>
            <a:r>
              <a:rPr lang="en-US" sz="32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PROBLEM STATEMENT &amp; OBJECTIVES</a:t>
            </a:r>
            <a:endParaRPr lang="en-US" sz="3600" b="1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2F72AD-6009-8180-6BF2-754861888D8E}"/>
              </a:ext>
            </a:extLst>
          </p:cNvPr>
          <p:cNvSpPr txBox="1"/>
          <p:nvPr/>
        </p:nvSpPr>
        <p:spPr>
          <a:xfrm>
            <a:off x="708842" y="1956187"/>
            <a:ext cx="501837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Nunito" pitchFamily="2" charset="0"/>
              </a:rPr>
              <a:t>    The Critical Gap (Problem Statement)</a:t>
            </a:r>
          </a:p>
          <a:p>
            <a:endParaRPr lang="en-US" sz="2000" b="1" dirty="0">
              <a:latin typeface="Nunito" pitchFamily="2" charset="0"/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600" dirty="0">
                <a:latin typeface="Nunito" pitchFamily="2" charset="0"/>
              </a:rPr>
              <a:t>A significant disconnect between the claimed capabilities of older bypass tools and their actual effectiveness against modern Windows.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endParaRPr lang="en-US" sz="1600" dirty="0">
              <a:latin typeface="Nunito" pitchFamily="2" charset="0"/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600" dirty="0">
                <a:latin typeface="Nunito" pitchFamily="2" charset="0"/>
              </a:rPr>
              <a:t>Lack of a consolidated narrative explaining why legacy attacks fail.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endParaRPr lang="en-US" sz="1600" dirty="0">
              <a:latin typeface="Nunito" pitchFamily="2" charset="0"/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600" dirty="0">
                <a:latin typeface="Nunito" pitchFamily="2" charset="0"/>
              </a:rPr>
              <a:t>Insufficient focus on the implications of new attack vectors like AI and biometric exploits.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1FFD6B-4D0B-6166-09E3-0B3494C43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919A55-0FC6-6CE2-D313-F1A83E31177B}"/>
              </a:ext>
            </a:extLst>
          </p:cNvPr>
          <p:cNvSpPr txBox="1"/>
          <p:nvPr/>
        </p:nvSpPr>
        <p:spPr>
          <a:xfrm>
            <a:off x="6541621" y="1956187"/>
            <a:ext cx="494673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Nunito" pitchFamily="2" charset="0"/>
              </a:rPr>
              <a:t>    Research Objectives</a:t>
            </a:r>
          </a:p>
          <a:p>
            <a:pPr algn="just"/>
            <a:endParaRPr lang="en-US" sz="1600" b="1" dirty="0">
              <a:latin typeface="Nunito" pitchFamily="2" charset="0"/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Nunito" pitchFamily="2" charset="0"/>
              </a:rPr>
              <a:t>Analyze</a:t>
            </a:r>
            <a:r>
              <a:rPr lang="en-US" sz="1600" dirty="0">
                <a:latin typeface="Nunito" pitchFamily="2" charset="0"/>
              </a:rPr>
              <a:t> the architectural shift from offline SAM attacks to live memory exploitation.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endParaRPr lang="en-US" sz="1600" dirty="0">
              <a:latin typeface="Nunito" pitchFamily="2" charset="0"/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Nunito" pitchFamily="2" charset="0"/>
              </a:rPr>
              <a:t>Evaluate</a:t>
            </a:r>
            <a:r>
              <a:rPr lang="en-US" sz="1600" dirty="0">
                <a:latin typeface="Nunito" pitchFamily="2" charset="0"/>
              </a:rPr>
              <a:t> the impact of hardware security (TPM, Secure Boot, VBS) on legacy tools.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endParaRPr lang="en-US" sz="1600" dirty="0">
              <a:latin typeface="Nunito" pitchFamily="2" charset="0"/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Nunito" pitchFamily="2" charset="0"/>
              </a:rPr>
              <a:t>Classify</a:t>
            </a:r>
            <a:r>
              <a:rPr lang="en-US" sz="1600" dirty="0">
                <a:latin typeface="Nunito" pitchFamily="2" charset="0"/>
              </a:rPr>
              <a:t> modern attack surfaces, including biometric spoofing and DMA attacks.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endParaRPr lang="en-US" sz="1600" dirty="0">
              <a:latin typeface="Nunito" pitchFamily="2" charset="0"/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Nunito" pitchFamily="2" charset="0"/>
              </a:rPr>
              <a:t>Investigate</a:t>
            </a:r>
            <a:r>
              <a:rPr lang="en-US" sz="1600" dirty="0">
                <a:latin typeface="Nunito" pitchFamily="2" charset="0"/>
              </a:rPr>
              <a:t> future threats posed by AI-driven autonomous attack agents.</a:t>
            </a:r>
          </a:p>
        </p:txBody>
      </p:sp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AA74185C-BFBE-A061-7EE7-9ED3E65084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8842" y="1968971"/>
            <a:ext cx="5486473" cy="3354766"/>
          </a:xfrm>
          <a:prstGeom prst="rect">
            <a:avLst/>
          </a:prstGeom>
        </p:spPr>
      </p:pic>
      <p:pic>
        <p:nvPicPr>
          <p:cNvPr id="8" name="Graphic 7" descr="Bullseye with solid fill">
            <a:extLst>
              <a:ext uri="{FF2B5EF4-FFF2-40B4-BE49-F238E27FC236}">
                <a16:creationId xmlns:a16="http://schemas.microsoft.com/office/drawing/2014/main" id="{552A2939-9CF4-E79F-EBEF-AF379693E4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2710" y="1962035"/>
            <a:ext cx="355057" cy="355057"/>
          </a:xfrm>
          <a:prstGeom prst="rect">
            <a:avLst/>
          </a:prstGeom>
        </p:spPr>
      </p:pic>
      <p:pic>
        <p:nvPicPr>
          <p:cNvPr id="11" name="Graphic 10" descr="Warning with solid fill">
            <a:extLst>
              <a:ext uri="{FF2B5EF4-FFF2-40B4-BE49-F238E27FC236}">
                <a16:creationId xmlns:a16="http://schemas.microsoft.com/office/drawing/2014/main" id="{7D89DB0B-2BD7-E28E-E1A7-B3120C9484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8842" y="1988293"/>
            <a:ext cx="302539" cy="30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01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7E07913-6828-FB8B-4566-45E28C27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8DEA13-5C6C-F591-56E5-7A247492F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sp>
        <p:nvSpPr>
          <p:cNvPr id="4" name="Google Shape;97;p2">
            <a:extLst>
              <a:ext uri="{FF2B5EF4-FFF2-40B4-BE49-F238E27FC236}">
                <a16:creationId xmlns:a16="http://schemas.microsoft.com/office/drawing/2014/main" id="{CEBE78BD-CA2C-3C0B-DD9D-895184E42215}"/>
              </a:ext>
            </a:extLst>
          </p:cNvPr>
          <p:cNvSpPr txBox="1"/>
          <p:nvPr/>
        </p:nvSpPr>
        <p:spPr>
          <a:xfrm>
            <a:off x="601553" y="220467"/>
            <a:ext cx="8855294" cy="66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Aft>
                <a:spcPts val="600"/>
              </a:spcAft>
              <a:buSzPts val="2800"/>
              <a:defRPr/>
            </a:pPr>
            <a:r>
              <a:rPr lang="en-US" sz="3200" b="1" kern="1200" dirty="0">
                <a:solidFill>
                  <a:srgbClr val="FFFFFF"/>
                </a:solidFill>
                <a:sym typeface="Lato"/>
              </a:rPr>
              <a:t>LITERATURE REVIEW</a:t>
            </a:r>
            <a:endParaRPr lang="en-US" sz="3600" b="1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43B41A-96EE-A575-DE35-C7690D742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145A7C-2471-D6C1-5BE5-3C52181AE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033718"/>
              </p:ext>
            </p:extLst>
          </p:nvPr>
        </p:nvGraphicFramePr>
        <p:xfrm>
          <a:off x="706055" y="1053540"/>
          <a:ext cx="10729734" cy="5561030"/>
        </p:xfrm>
        <a:graphic>
          <a:graphicData uri="http://schemas.openxmlformats.org/drawingml/2006/table">
            <a:tbl>
              <a:tblPr>
                <a:tableStyleId>{D407CCD9-B201-439B-B1EF-90C1143E229E}</a:tableStyleId>
              </a:tblPr>
              <a:tblGrid>
                <a:gridCol w="625034">
                  <a:extLst>
                    <a:ext uri="{9D8B030D-6E8A-4147-A177-3AD203B41FA5}">
                      <a16:colId xmlns:a16="http://schemas.microsoft.com/office/drawing/2014/main" val="809295341"/>
                    </a:ext>
                  </a:extLst>
                </a:gridCol>
                <a:gridCol w="1967696">
                  <a:extLst>
                    <a:ext uri="{9D8B030D-6E8A-4147-A177-3AD203B41FA5}">
                      <a16:colId xmlns:a16="http://schemas.microsoft.com/office/drawing/2014/main" val="358484464"/>
                    </a:ext>
                  </a:extLst>
                </a:gridCol>
                <a:gridCol w="1886673">
                  <a:extLst>
                    <a:ext uri="{9D8B030D-6E8A-4147-A177-3AD203B41FA5}">
                      <a16:colId xmlns:a16="http://schemas.microsoft.com/office/drawing/2014/main" val="2983322581"/>
                    </a:ext>
                  </a:extLst>
                </a:gridCol>
                <a:gridCol w="1851950">
                  <a:extLst>
                    <a:ext uri="{9D8B030D-6E8A-4147-A177-3AD203B41FA5}">
                      <a16:colId xmlns:a16="http://schemas.microsoft.com/office/drawing/2014/main" val="3804284917"/>
                    </a:ext>
                  </a:extLst>
                </a:gridCol>
                <a:gridCol w="1944546">
                  <a:extLst>
                    <a:ext uri="{9D8B030D-6E8A-4147-A177-3AD203B41FA5}">
                      <a16:colId xmlns:a16="http://schemas.microsoft.com/office/drawing/2014/main" val="1301976786"/>
                    </a:ext>
                  </a:extLst>
                </a:gridCol>
                <a:gridCol w="2453835">
                  <a:extLst>
                    <a:ext uri="{9D8B030D-6E8A-4147-A177-3AD203B41FA5}">
                      <a16:colId xmlns:a16="http://schemas.microsoft.com/office/drawing/2014/main" val="1524244373"/>
                    </a:ext>
                  </a:extLst>
                </a:gridCol>
              </a:tblGrid>
              <a:tr h="173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Sr no.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Name of the Paper / Resource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Authors / Source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Focus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Methodologies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Key Findings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3341659709"/>
                  </a:ext>
                </a:extLst>
              </a:tr>
              <a:tr h="7819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1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Privacy and Security of the Windows Registry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Amoruso (UCF Dissertation)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Security and privacy of the Windows Registry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Comprehensive dissertation, technical registry analysis, vulnerabilities, and privacy aspects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Detailed exploration of registry forensics, artifact persistence, and detection risks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2985165784"/>
                  </a:ext>
                </a:extLst>
              </a:tr>
              <a:tr h="7819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Microsoft SAM File Readability CVE-2021-36934: What You Need to Know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Condon, Rapid7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CVE-2021-36934 Serious SAM vulnerability in the SAM database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Real-world vulnerability disclosure, proof-of-concept analysis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Allowed non-admin users access to SAM and SYSTEM files; highlights offline attack surface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258594193"/>
                  </a:ext>
                </a:extLst>
              </a:tr>
              <a:tr h="6603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Attacks Against Windows PXE Boot Images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Elling, NetSPI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PXE Boot images attacks &amp; Windows boot-level vulnerabilities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Practical pentesting blog with technical walkthroughs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Demonstrates how attackers exploit Windows boot environments and PXE images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3384756099"/>
                  </a:ext>
                </a:extLst>
              </a:tr>
              <a:tr h="7819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4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Bypassing Local Windows Authentication to Defeat Full Disk Encryption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Haken, Black Hat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Bypassing local Windows auth &amp; defeating disk encryption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Conference whitepaper, threat modelling, exploit demonstration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By exploiting local (offline) authentication flaws, attackers can access encrypted systems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929299903"/>
                  </a:ext>
                </a:extLst>
              </a:tr>
              <a:tr h="7819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5</a:t>
                      </a:r>
                    </a:p>
                  </a:txBody>
                  <a:tcPr marL="41050" marR="41050" marT="20525" marB="20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Security Analysis and Bypass User Authentication Bound to Device of Windows Hello in the Wild</a:t>
                      </a:r>
                    </a:p>
                  </a:txBody>
                  <a:tcPr marL="41050" marR="41050" marT="20525" marB="20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Kim &amp; Choi, Wiley</a:t>
                      </a:r>
                    </a:p>
                  </a:txBody>
                  <a:tcPr marL="41050" marR="41050" marT="20525" marB="20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Windows Hello biometric auth bypass</a:t>
                      </a:r>
                    </a:p>
                  </a:txBody>
                  <a:tcPr marL="41050" marR="41050" marT="20525" marB="20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Peer-reviewed research paper, real-world attack experiments</a:t>
                      </a:r>
                    </a:p>
                  </a:txBody>
                  <a:tcPr marL="41050" marR="41050" marT="20525" marB="20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Device-bound authentication can be bypassed if biometric data is not hardware protected</a:t>
                      </a:r>
                    </a:p>
                  </a:txBody>
                  <a:tcPr marL="41050" marR="41050" marT="20525" marB="20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3660"/>
                  </a:ext>
                </a:extLst>
              </a:tr>
              <a:tr h="6603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6</a:t>
                      </a:r>
                    </a:p>
                  </a:txBody>
                  <a:tcPr marL="41050" marR="41050" marT="20525" marB="20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Automating Privilege Escalation with Deep Reinforcement Learning</a:t>
                      </a:r>
                    </a:p>
                  </a:txBody>
                  <a:tcPr marL="41050" marR="41050" marT="20525" marB="20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/>
                        <a:t>KujanpÃ¤Ã¤ et al., arXiv</a:t>
                      </a:r>
                    </a:p>
                  </a:txBody>
                  <a:tcPr marL="41050" marR="41050" marT="20525" marB="20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Privilege escalation via deep reinforcement learning</a:t>
                      </a:r>
                    </a:p>
                  </a:txBody>
                  <a:tcPr marL="41050" marR="41050" marT="20525" marB="20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Simulation, machine learning for escalation</a:t>
                      </a:r>
                    </a:p>
                  </a:txBody>
                  <a:tcPr marL="41050" marR="41050" marT="20525" marB="20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Automation reveals overlooked escalation routes in complex systems</a:t>
                      </a:r>
                    </a:p>
                  </a:txBody>
                  <a:tcPr marL="41050" marR="41050" marT="20525" marB="20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372536"/>
                  </a:ext>
                </a:extLst>
              </a:tr>
              <a:tr h="9036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7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Study of bypassing Microsoft Windows Security using the MITRE CALDERA Framework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Mohamed, F1000Research &amp; Alabdulatif &amp; Taherdoost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Using MITRE CALDERA for Windows security bypass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Peer-reviewed case study with adversarial emulation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CALDERA enables undetected bypass of Windows controls, persistence, and low-noise operations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2099624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46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639CF98-7DE6-55AD-FFC9-7BC4FC0D9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5CD15-3D25-E37F-2D57-FED7410CF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sp>
        <p:nvSpPr>
          <p:cNvPr id="4" name="Google Shape;97;p2">
            <a:extLst>
              <a:ext uri="{FF2B5EF4-FFF2-40B4-BE49-F238E27FC236}">
                <a16:creationId xmlns:a16="http://schemas.microsoft.com/office/drawing/2014/main" id="{8835036F-15DF-73C4-FD3C-F19B2D7D6D77}"/>
              </a:ext>
            </a:extLst>
          </p:cNvPr>
          <p:cNvSpPr txBox="1"/>
          <p:nvPr/>
        </p:nvSpPr>
        <p:spPr>
          <a:xfrm>
            <a:off x="601553" y="220467"/>
            <a:ext cx="8855294" cy="66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Aft>
                <a:spcPts val="600"/>
              </a:spcAft>
              <a:buSzPts val="2800"/>
              <a:defRPr/>
            </a:pPr>
            <a:r>
              <a:rPr lang="en-US" sz="3200" b="1" kern="1200" dirty="0">
                <a:solidFill>
                  <a:srgbClr val="FFFFFF"/>
                </a:solidFill>
                <a:sym typeface="Lato"/>
              </a:rPr>
              <a:t>LITERATURE REVIEW</a:t>
            </a:r>
            <a:endParaRPr lang="en-US" sz="3600" b="1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0C7F27-82D4-1AB6-B7AA-DF0480F2A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9336F7-6E49-CEB8-589E-740AA922F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600422"/>
              </p:ext>
            </p:extLst>
          </p:nvPr>
        </p:nvGraphicFramePr>
        <p:xfrm>
          <a:off x="731133" y="1065114"/>
          <a:ext cx="10729734" cy="5399795"/>
        </p:xfrm>
        <a:graphic>
          <a:graphicData uri="http://schemas.openxmlformats.org/drawingml/2006/table">
            <a:tbl>
              <a:tblPr>
                <a:tableStyleId>{D407CCD9-B201-439B-B1EF-90C1143E229E}</a:tableStyleId>
              </a:tblPr>
              <a:tblGrid>
                <a:gridCol w="625034">
                  <a:extLst>
                    <a:ext uri="{9D8B030D-6E8A-4147-A177-3AD203B41FA5}">
                      <a16:colId xmlns:a16="http://schemas.microsoft.com/office/drawing/2014/main" val="809295341"/>
                    </a:ext>
                  </a:extLst>
                </a:gridCol>
                <a:gridCol w="1967696">
                  <a:extLst>
                    <a:ext uri="{9D8B030D-6E8A-4147-A177-3AD203B41FA5}">
                      <a16:colId xmlns:a16="http://schemas.microsoft.com/office/drawing/2014/main" val="358484464"/>
                    </a:ext>
                  </a:extLst>
                </a:gridCol>
                <a:gridCol w="1886673">
                  <a:extLst>
                    <a:ext uri="{9D8B030D-6E8A-4147-A177-3AD203B41FA5}">
                      <a16:colId xmlns:a16="http://schemas.microsoft.com/office/drawing/2014/main" val="2983322581"/>
                    </a:ext>
                  </a:extLst>
                </a:gridCol>
                <a:gridCol w="1851950">
                  <a:extLst>
                    <a:ext uri="{9D8B030D-6E8A-4147-A177-3AD203B41FA5}">
                      <a16:colId xmlns:a16="http://schemas.microsoft.com/office/drawing/2014/main" val="3804284917"/>
                    </a:ext>
                  </a:extLst>
                </a:gridCol>
                <a:gridCol w="1944546">
                  <a:extLst>
                    <a:ext uri="{9D8B030D-6E8A-4147-A177-3AD203B41FA5}">
                      <a16:colId xmlns:a16="http://schemas.microsoft.com/office/drawing/2014/main" val="1301976786"/>
                    </a:ext>
                  </a:extLst>
                </a:gridCol>
                <a:gridCol w="2453835">
                  <a:extLst>
                    <a:ext uri="{9D8B030D-6E8A-4147-A177-3AD203B41FA5}">
                      <a16:colId xmlns:a16="http://schemas.microsoft.com/office/drawing/2014/main" val="1524244373"/>
                    </a:ext>
                  </a:extLst>
                </a:gridCol>
              </a:tblGrid>
              <a:tr h="92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Sr no.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Name of the Paper / Resource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Authors / Source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Focus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Methodologies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Key Findings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3341659709"/>
                  </a:ext>
                </a:extLst>
              </a:tr>
              <a:tr h="7819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8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USB Artifact Analysis Using Windows Event Viewer, Registry and File System Logs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Neyaz</a:t>
                      </a:r>
                      <a:r>
                        <a:rPr lang="en-IN" sz="1100" dirty="0"/>
                        <a:t> &amp; Shashidhar, MDPI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USB artifacts in Windows (logs, registry, filesystem)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Experimentation with forensic tools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USB drives leave identifiable artifacts, but detection can be minimized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165784"/>
                  </a:ext>
                </a:extLst>
              </a:tr>
              <a:tr h="7819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9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Study on Security Auditing of Windows Registry Database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Tashi, IJSTE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Auditing Windows Registry Database for security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Security auditing, registry analysis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Outlines methods and limits of registry-based detection and security logging</a:t>
                      </a:r>
                    </a:p>
                  </a:txBody>
                  <a:tcPr marL="40166" marR="40166" marT="20083" marB="20083" anchor="ctr"/>
                </a:tc>
                <a:extLst>
                  <a:ext uri="{0D108BD9-81ED-4DB2-BD59-A6C34878D82A}">
                    <a16:rowId xmlns:a16="http://schemas.microsoft.com/office/drawing/2014/main" val="258594193"/>
                  </a:ext>
                </a:extLst>
              </a:tr>
              <a:tr h="6603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10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Memory Forensics: comparing the correctness of memory captures from locked Windows 10 machines using different boot capture vectors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Zargari &amp; Dyson, LAJC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Memory forensics on locked Windows 10 captured via boot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Empirical study, comparative analysis of capture vectors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Boot-vectored memory captures can expose authentication material</a:t>
                      </a:r>
                    </a:p>
                  </a:txBody>
                  <a:tcPr marL="40166" marR="40166" marT="20083" marB="20083" anchor="ctr"/>
                </a:tc>
                <a:extLst>
                  <a:ext uri="{0D108BD9-81ED-4DB2-BD59-A6C34878D82A}">
                    <a16:rowId xmlns:a16="http://schemas.microsoft.com/office/drawing/2014/main" val="3384756099"/>
                  </a:ext>
                </a:extLst>
              </a:tr>
              <a:tr h="632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11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Security Accounts Manager Database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ScienceDirect, SAM overview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Technical underpinning of SAM database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Technical resource, conceptual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Details structure, interaction, and security models for local Windows accounts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299903"/>
                  </a:ext>
                </a:extLst>
              </a:tr>
              <a:tr h="7819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12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Security Analysis and Bypass User Authentication Bound to Device of Windows Hello in the Wild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IEEE Xplore, Windows Hello auth bypass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Windows Hello &amp; device-bound authentication vulnerabilities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Security analysis, technical review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Points to persistent weaknesses in device-bound and biometric authentication</a:t>
                      </a:r>
                    </a:p>
                  </a:txBody>
                  <a:tcPr marL="40166" marR="40166" marT="20083" marB="2008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3660"/>
                  </a:ext>
                </a:extLst>
              </a:tr>
              <a:tr h="6603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13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AXREL: Automated Extracting Registry and Event Logs for Windows Forensics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IEEE Xplore, Registry/Event Log Extraction (AXREL)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Automated forensic artifact extraction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Describes forensic tool and methodology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Improved techniques for detecting hidden/persistent changes in Windows</a:t>
                      </a:r>
                    </a:p>
                  </a:txBody>
                  <a:tcPr marL="40166" marR="40166" marT="20083" marB="20083" anchor="ctr"/>
                </a:tc>
                <a:extLst>
                  <a:ext uri="{0D108BD9-81ED-4DB2-BD59-A6C34878D82A}">
                    <a16:rowId xmlns:a16="http://schemas.microsoft.com/office/drawing/2014/main" val="2149372536"/>
                  </a:ext>
                </a:extLst>
              </a:tr>
              <a:tr h="6742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14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Penetration Testing on Windows to Preserve Security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Brazilian Journals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Survey of penetration testing on Windows login bypass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Overview, compilation of tests on various bypass techniques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Documents threshold, methods, and limitations of offline/online bypass</a:t>
                      </a:r>
                    </a:p>
                  </a:txBody>
                  <a:tcPr marL="40166" marR="40166" marT="20083" marB="20083" anchor="ctr"/>
                </a:tc>
                <a:extLst>
                  <a:ext uri="{0D108BD9-81ED-4DB2-BD59-A6C34878D82A}">
                    <a16:rowId xmlns:a16="http://schemas.microsoft.com/office/drawing/2014/main" val="2099624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22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9FA09FD-2320-AD19-AEBF-3F76785B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E55C672-89D9-F025-2913-22793AE47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sp>
        <p:nvSpPr>
          <p:cNvPr id="4" name="Google Shape;97;p2">
            <a:extLst>
              <a:ext uri="{FF2B5EF4-FFF2-40B4-BE49-F238E27FC236}">
                <a16:creationId xmlns:a16="http://schemas.microsoft.com/office/drawing/2014/main" id="{E58DA58C-A307-7B64-CA27-A798DEB0AB0F}"/>
              </a:ext>
            </a:extLst>
          </p:cNvPr>
          <p:cNvSpPr txBox="1"/>
          <p:nvPr/>
        </p:nvSpPr>
        <p:spPr>
          <a:xfrm>
            <a:off x="601553" y="220467"/>
            <a:ext cx="8855294" cy="66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Aft>
                <a:spcPts val="600"/>
              </a:spcAft>
              <a:buSzPts val="2800"/>
              <a:defRPr/>
            </a:pPr>
            <a:r>
              <a:rPr lang="en-US" sz="3200" b="1" kern="1200" dirty="0">
                <a:solidFill>
                  <a:srgbClr val="FFFFFF"/>
                </a:solidFill>
                <a:sym typeface="Lato"/>
              </a:rPr>
              <a:t>LITERATURE REVIEW</a:t>
            </a:r>
            <a:endParaRPr lang="en-US" sz="3600" b="1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82A07-12F6-D655-1D78-C82084AE3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D254C1-C4FE-8958-0097-CEAD4A302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685021"/>
              </p:ext>
            </p:extLst>
          </p:nvPr>
        </p:nvGraphicFramePr>
        <p:xfrm>
          <a:off x="706055" y="1053540"/>
          <a:ext cx="10729734" cy="4779032"/>
        </p:xfrm>
        <a:graphic>
          <a:graphicData uri="http://schemas.openxmlformats.org/drawingml/2006/table">
            <a:tbl>
              <a:tblPr>
                <a:tableStyleId>{D407CCD9-B201-439B-B1EF-90C1143E229E}</a:tableStyleId>
              </a:tblPr>
              <a:tblGrid>
                <a:gridCol w="625034">
                  <a:extLst>
                    <a:ext uri="{9D8B030D-6E8A-4147-A177-3AD203B41FA5}">
                      <a16:colId xmlns:a16="http://schemas.microsoft.com/office/drawing/2014/main" val="809295341"/>
                    </a:ext>
                  </a:extLst>
                </a:gridCol>
                <a:gridCol w="1967696">
                  <a:extLst>
                    <a:ext uri="{9D8B030D-6E8A-4147-A177-3AD203B41FA5}">
                      <a16:colId xmlns:a16="http://schemas.microsoft.com/office/drawing/2014/main" val="358484464"/>
                    </a:ext>
                  </a:extLst>
                </a:gridCol>
                <a:gridCol w="1886673">
                  <a:extLst>
                    <a:ext uri="{9D8B030D-6E8A-4147-A177-3AD203B41FA5}">
                      <a16:colId xmlns:a16="http://schemas.microsoft.com/office/drawing/2014/main" val="2983322581"/>
                    </a:ext>
                  </a:extLst>
                </a:gridCol>
                <a:gridCol w="1851950">
                  <a:extLst>
                    <a:ext uri="{9D8B030D-6E8A-4147-A177-3AD203B41FA5}">
                      <a16:colId xmlns:a16="http://schemas.microsoft.com/office/drawing/2014/main" val="3804284917"/>
                    </a:ext>
                  </a:extLst>
                </a:gridCol>
                <a:gridCol w="1944546">
                  <a:extLst>
                    <a:ext uri="{9D8B030D-6E8A-4147-A177-3AD203B41FA5}">
                      <a16:colId xmlns:a16="http://schemas.microsoft.com/office/drawing/2014/main" val="1301976786"/>
                    </a:ext>
                  </a:extLst>
                </a:gridCol>
                <a:gridCol w="2453835">
                  <a:extLst>
                    <a:ext uri="{9D8B030D-6E8A-4147-A177-3AD203B41FA5}">
                      <a16:colId xmlns:a16="http://schemas.microsoft.com/office/drawing/2014/main" val="1524244373"/>
                    </a:ext>
                  </a:extLst>
                </a:gridCol>
              </a:tblGrid>
              <a:tr h="173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Sr no.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Name of the Paper / Resource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Authors / Source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Focus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Methodologies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Key Findings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3341659709"/>
                  </a:ext>
                </a:extLst>
              </a:tr>
              <a:tr h="781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Microsoft KB5005478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Microsoft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Windows Hello security hardening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Patch notes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Introduces mitigations addressing biometric authentication vulnerabilities.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94193"/>
                  </a:ext>
                </a:extLst>
              </a:tr>
              <a:tr h="660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USB Artefact Forensics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Neyaz &amp; Shashidhar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USB forensic artefacts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Event log and registry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Identifies forensic traces associated with USB device usage.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756099"/>
                  </a:ext>
                </a:extLst>
              </a:tr>
              <a:tr h="781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Boot-Capture Memory Forensics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Zargari &amp; Dyson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Memory forensics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Experimental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Boot method significantly affects memory artefact integrity.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299903"/>
                  </a:ext>
                </a:extLst>
              </a:tr>
              <a:tr h="781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PRMitM Password Reset Attack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Sivakorn et al. (2017)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Password reset vulnerabilities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Security protocol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Demonstrates weaknesses in application-level password recovery mechanisms.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3660"/>
                  </a:ext>
                </a:extLst>
              </a:tr>
              <a:tr h="660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AI-Based Authentication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Al-Ameen &amp; Al-</a:t>
                      </a:r>
                      <a:r>
                        <a:rPr lang="en-IN" sz="1100" dirty="0" err="1"/>
                        <a:t>Khattat</a:t>
                      </a:r>
                      <a:r>
                        <a:rPr lang="en-IN" sz="1100" dirty="0"/>
                        <a:t>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AI-driven 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Literature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Reviews biometric and behavioural authentication models using AI.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9372536"/>
                  </a:ext>
                </a:extLst>
              </a:tr>
              <a:tr h="903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Windows Forensics Review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Chowdhury (2021)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Windows forensic investigation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Systematic review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Summarizes forensic techniques for Windows-based systems.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624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285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0219CED-E812-945F-6FBD-A220D40B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AD7BCFE-BACE-0ADE-DFAB-992A7D4CA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sp>
        <p:nvSpPr>
          <p:cNvPr id="4" name="Google Shape;97;p2">
            <a:extLst>
              <a:ext uri="{FF2B5EF4-FFF2-40B4-BE49-F238E27FC236}">
                <a16:creationId xmlns:a16="http://schemas.microsoft.com/office/drawing/2014/main" id="{954EECCB-E233-EDE2-D7EE-8304C3EEDF3B}"/>
              </a:ext>
            </a:extLst>
          </p:cNvPr>
          <p:cNvSpPr txBox="1"/>
          <p:nvPr/>
        </p:nvSpPr>
        <p:spPr>
          <a:xfrm>
            <a:off x="601553" y="220467"/>
            <a:ext cx="8855294" cy="66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Aft>
                <a:spcPts val="600"/>
              </a:spcAft>
              <a:buSzPts val="2800"/>
              <a:defRPr/>
            </a:pPr>
            <a:r>
              <a:rPr lang="en-US" sz="3200" b="1" kern="1200" dirty="0">
                <a:solidFill>
                  <a:srgbClr val="FFFFFF"/>
                </a:solidFill>
                <a:sym typeface="Lato"/>
              </a:rPr>
              <a:t>LITERATURE REVIEW</a:t>
            </a:r>
            <a:endParaRPr lang="en-US" sz="3600" b="1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D7580C-6D35-76D5-192B-C4B97D29C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C0F0F4-9D57-E8AA-043C-524A6EA17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680148"/>
              </p:ext>
            </p:extLst>
          </p:nvPr>
        </p:nvGraphicFramePr>
        <p:xfrm>
          <a:off x="717630" y="1041964"/>
          <a:ext cx="10695006" cy="5339738"/>
        </p:xfrm>
        <a:graphic>
          <a:graphicData uri="http://schemas.openxmlformats.org/drawingml/2006/table">
            <a:tbl>
              <a:tblPr>
                <a:tableStyleId>{D407CCD9-B201-439B-B1EF-90C1143E229E}</a:tableStyleId>
              </a:tblPr>
              <a:tblGrid>
                <a:gridCol w="613459">
                  <a:extLst>
                    <a:ext uri="{9D8B030D-6E8A-4147-A177-3AD203B41FA5}">
                      <a16:colId xmlns:a16="http://schemas.microsoft.com/office/drawing/2014/main" val="4252543253"/>
                    </a:ext>
                  </a:extLst>
                </a:gridCol>
                <a:gridCol w="1969953">
                  <a:extLst>
                    <a:ext uri="{9D8B030D-6E8A-4147-A177-3AD203B41FA5}">
                      <a16:colId xmlns:a16="http://schemas.microsoft.com/office/drawing/2014/main" val="70367527"/>
                    </a:ext>
                  </a:extLst>
                </a:gridCol>
                <a:gridCol w="1861267">
                  <a:extLst>
                    <a:ext uri="{9D8B030D-6E8A-4147-A177-3AD203B41FA5}">
                      <a16:colId xmlns:a16="http://schemas.microsoft.com/office/drawing/2014/main" val="112108725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819616355"/>
                    </a:ext>
                  </a:extLst>
                </a:gridCol>
                <a:gridCol w="1932972">
                  <a:extLst>
                    <a:ext uri="{9D8B030D-6E8A-4147-A177-3AD203B41FA5}">
                      <a16:colId xmlns:a16="http://schemas.microsoft.com/office/drawing/2014/main" val="3065659126"/>
                    </a:ext>
                  </a:extLst>
                </a:gridCol>
                <a:gridCol w="2488555">
                  <a:extLst>
                    <a:ext uri="{9D8B030D-6E8A-4147-A177-3AD203B41FA5}">
                      <a16:colId xmlns:a16="http://schemas.microsoft.com/office/drawing/2014/main" val="3249874682"/>
                    </a:ext>
                  </a:extLst>
                </a:gridCol>
              </a:tblGrid>
              <a:tr h="2544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Sr no.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Name of the Paper / Resource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Authors / Source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Focus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Methodologies</a:t>
                      </a:r>
                    </a:p>
                  </a:txBody>
                  <a:tcPr marL="40166" marR="40166" marT="20083" marB="20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Key Findings</a:t>
                      </a:r>
                    </a:p>
                  </a:txBody>
                  <a:tcPr marL="40166" marR="40166" marT="20083" marB="20083" anchor="ctr"/>
                </a:tc>
                <a:extLst>
                  <a:ext uri="{0D108BD9-81ED-4DB2-BD59-A6C34878D82A}">
                    <a16:rowId xmlns:a16="http://schemas.microsoft.com/office/drawing/2014/main" val="2316031381"/>
                  </a:ext>
                </a:extLst>
              </a:tr>
              <a:tr h="740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Biometric Authentication Overview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Biggs &amp; Williams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Biometric security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Academic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Explains biometric modalities and associated security risks.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031712"/>
                  </a:ext>
                </a:extLst>
              </a:tr>
              <a:tr h="648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Biometrics Security Guidance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NCSC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Secure biometric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National guidance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Provides best practices and risk considerations for biometrics.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0944180"/>
                  </a:ext>
                </a:extLst>
              </a:tr>
              <a:tr h="717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Windows Login </a:t>
                      </a:r>
                      <a:r>
                        <a:rPr lang="en-IN" sz="1100" dirty="0" err="1"/>
                        <a:t>Unlocker</a:t>
                      </a:r>
                      <a:endParaRPr lang="en-IN" sz="11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Taiwebs</a:t>
                      </a:r>
                      <a:endParaRPr lang="en-IN" sz="11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Offline credential manipulation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Software documentation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Describes live-boot techniques for resetting Windows credentials.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70731"/>
                  </a:ext>
                </a:extLst>
              </a:tr>
              <a:tr h="833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Windows Password </a:t>
                      </a:r>
                      <a:r>
                        <a:rPr lang="en-IN" sz="1100" dirty="0" err="1"/>
                        <a:t>Unlocker</a:t>
                      </a:r>
                      <a:r>
                        <a:rPr lang="en-IN" sz="1100" dirty="0"/>
                        <a:t> Professional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Vendor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Password recovery mechanisms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Tool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Details methods used to remove or reset Windows passwords.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805366"/>
                  </a:ext>
                </a:extLst>
              </a:tr>
              <a:tr h="729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Resetting Windows Passwords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Passcape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Offline password modification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Technical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Explains SAM database interaction and password rewriting methods.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4822553"/>
                  </a:ext>
                </a:extLst>
              </a:tr>
              <a:tr h="821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Survey of Password Remover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Kumar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Password reset utilities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Comparative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Evaluates efficiency and limitations of password removal tools.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1973046"/>
                  </a:ext>
                </a:extLst>
              </a:tr>
              <a:tr h="520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RDP NLA Bypass Advisory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Rapid7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Remote authentication weakness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Security advisory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Identifies conditions under which Network Level Authentication can be bypassed.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1460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025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8000" y="508000"/>
            <a:ext cx="11176000" cy="5842000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508243" y="1191015"/>
            <a:ext cx="4318000" cy="3111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600" i="1" dirty="0">
                <a:solidFill>
                  <a:srgbClr val="78350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Offline SAM to Live System Exploitation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31993" y="1140124"/>
            <a:ext cx="1352551" cy="1841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/>
            <a:r>
              <a:rPr lang="en-US" sz="933" b="1" dirty="0">
                <a:solidFill>
                  <a:srgbClr val="1C191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CONTEXT</a:t>
            </a:r>
            <a:endParaRPr lang="en-US" sz="933" dirty="0"/>
          </a:p>
        </p:txBody>
      </p:sp>
      <p:sp>
        <p:nvSpPr>
          <p:cNvPr id="7" name="Text 5"/>
          <p:cNvSpPr/>
          <p:nvPr/>
        </p:nvSpPr>
        <p:spPr>
          <a:xfrm>
            <a:off x="10331993" y="1324005"/>
            <a:ext cx="1352551" cy="177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/>
            <a:r>
              <a:rPr lang="en-US" sz="800" dirty="0">
                <a:solidFill>
                  <a:srgbClr val="1C191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1993 — Present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8274" y="2478570"/>
            <a:ext cx="5334000" cy="3867151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508962" y="1759845"/>
            <a:ext cx="584080" cy="609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1C1917"/>
                </a:solidFill>
                <a:latin typeface="Nunito" pitchFamily="2" charset="0"/>
                <a:ea typeface="ui-serif" pitchFamily="34" charset="-122"/>
                <a:cs typeface="ui-serif" pitchFamily="34" charset="-120"/>
              </a:rPr>
              <a:t>01</a:t>
            </a:r>
            <a:endParaRPr lang="en-US" sz="3200" dirty="0">
              <a:latin typeface="Nunito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3042" y="1823931"/>
            <a:ext cx="2487040" cy="4000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The Legacy Era</a:t>
            </a:r>
            <a:endParaRPr lang="en-US" sz="2400" dirty="0">
              <a:latin typeface="Nunito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7963" y="2476247"/>
            <a:ext cx="5073649" cy="2282029"/>
          </a:xfrm>
          <a:prstGeom prst="roundRect">
            <a:avLst>
              <a:gd name="adj" fmla="val 298"/>
            </a:avLst>
          </a:prstGeom>
          <a:solidFill>
            <a:srgbClr val="1C1917"/>
          </a:solidFill>
          <a:ln/>
          <a:effectLst>
            <a:outerShdw blurRad="238125" dist="119063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1962" y="2730276"/>
            <a:ext cx="4565651" cy="10985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F5F5F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Traditional attacks targeted the offline Security Accounts Manager (SAM) database. These methods were often destructive and required physical access to unencrypted drives.</a:t>
            </a:r>
            <a:endParaRPr lang="en-US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62" y="3837628"/>
            <a:ext cx="234516" cy="2345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24730" y="3846605"/>
            <a:ext cx="2601060" cy="25120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F5F5F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Direct Registry Manipulation</a:t>
            </a: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62" y="4148717"/>
            <a:ext cx="234516" cy="2345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22587" y="4157696"/>
            <a:ext cx="2249318" cy="25120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F5F5F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Hash Extraction (Offline)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604065" y="1759845"/>
            <a:ext cx="539751" cy="609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1C1917"/>
                </a:solidFill>
                <a:latin typeface="Nunito" pitchFamily="2" charset="0"/>
                <a:ea typeface="ui-serif" pitchFamily="34" charset="-122"/>
                <a:cs typeface="ui-serif" pitchFamily="34" charset="-120"/>
              </a:rPr>
              <a:t>02</a:t>
            </a:r>
            <a:endParaRPr lang="en-US" sz="3200" dirty="0">
              <a:latin typeface="Nunito" pitchFamily="2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261045" y="1825598"/>
            <a:ext cx="3202830" cy="4000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The Modern Paradigm</a:t>
            </a:r>
            <a:endParaRPr lang="en-US" sz="2400" dirty="0">
              <a:latin typeface="Nunito" pitchFamily="2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603038" y="2511515"/>
            <a:ext cx="5080000" cy="95878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modern operating systems have significantly altered the attack surface, shifting the focus away from traditional vulnerabilities toward deep integration with live system components, heavily enforced by hardware-backed security features such as the Trusted Platform Module (TPM), Secure Boot mechanisms, and Virtualization-Based Security (VBS).</a:t>
            </a: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6676195" y="4125170"/>
            <a:ext cx="2463800" cy="469900"/>
          </a:xfrm>
          <a:prstGeom prst="rect">
            <a:avLst/>
          </a:prstGeom>
          <a:ln/>
        </p:spPr>
      </p:sp>
      <p:sp>
        <p:nvSpPr>
          <p:cNvPr id="21" name="Text 17"/>
          <p:cNvSpPr/>
          <p:nvPr/>
        </p:nvSpPr>
        <p:spPr>
          <a:xfrm>
            <a:off x="6852796" y="4176254"/>
            <a:ext cx="2286000" cy="1841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HARDWARE ROOT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852796" y="4447387"/>
            <a:ext cx="2286000" cy="1841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TPM &amp; Secure Boot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292468" y="4125170"/>
            <a:ext cx="2463800" cy="469900"/>
          </a:xfrm>
          <a:prstGeom prst="rect">
            <a:avLst/>
          </a:prstGeom>
          <a:ln/>
        </p:spPr>
      </p:sp>
      <p:sp>
        <p:nvSpPr>
          <p:cNvPr id="24" name="Text 20"/>
          <p:cNvSpPr/>
          <p:nvPr/>
        </p:nvSpPr>
        <p:spPr>
          <a:xfrm>
            <a:off x="9469071" y="4176254"/>
            <a:ext cx="2286000" cy="1841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VIRTUALIZATION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9469071" y="4447387"/>
            <a:ext cx="2286000" cy="1841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VBS / Credential Guard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273" y="2478570"/>
            <a:ext cx="5486473" cy="2968919"/>
          </a:xfrm>
          <a:prstGeom prst="rect">
            <a:avLst/>
          </a:prstGeom>
        </p:spPr>
      </p:pic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6195" y="4125170"/>
            <a:ext cx="2463800" cy="527818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2468" y="4125170"/>
            <a:ext cx="2463800" cy="52781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9925925-3204-85C6-A4B3-13408FFB3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sp>
        <p:nvSpPr>
          <p:cNvPr id="34" name="Google Shape;97;p2">
            <a:extLst>
              <a:ext uri="{FF2B5EF4-FFF2-40B4-BE49-F238E27FC236}">
                <a16:creationId xmlns:a16="http://schemas.microsoft.com/office/drawing/2014/main" id="{9BA1F0B1-4186-26B5-D6DD-D30E66FD64EA}"/>
              </a:ext>
            </a:extLst>
          </p:cNvPr>
          <p:cNvSpPr txBox="1"/>
          <p:nvPr/>
        </p:nvSpPr>
        <p:spPr>
          <a:xfrm>
            <a:off x="390771" y="220467"/>
            <a:ext cx="9066076" cy="61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2400"/>
              <a:defRPr/>
            </a:pPr>
            <a:r>
              <a:rPr lang="en-US" sz="3200" b="1" dirty="0">
                <a:solidFill>
                  <a:schemeClr val="bg1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Evolution of Attacks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ABFE13B-6438-72B0-9B68-F919C265B9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5" name="Shape 3"/>
          <p:cNvSpPr/>
          <p:nvPr/>
        </p:nvSpPr>
        <p:spPr>
          <a:xfrm>
            <a:off x="601553" y="1674780"/>
            <a:ext cx="3454400" cy="2679700"/>
          </a:xfrm>
          <a:prstGeom prst="rect">
            <a:avLst/>
          </a:prstGeom>
          <a:solidFill>
            <a:srgbClr val="FFFFFF"/>
          </a:solidFill>
          <a:ln w="4313">
            <a:solidFill>
              <a:srgbClr val="1C1917">
                <a:alpha val="20000"/>
              </a:srgbClr>
            </a:solidFill>
            <a:prstDash val="solid"/>
          </a:ln>
          <a:effectLst>
            <a:outerShdw blurRad="9525" dist="4763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1243" y="1935759"/>
            <a:ext cx="406400" cy="406400"/>
          </a:xfrm>
          <a:prstGeom prst="ellipse">
            <a:avLst/>
          </a:prstGeom>
          <a:solidFill>
            <a:srgbClr val="78350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143" y="2024659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1903" y="2493900"/>
            <a:ext cx="2933700" cy="457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LSASS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1903" y="3102871"/>
            <a:ext cx="2933700" cy="990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Local Security Authority Subsystem Service orchestrates live authentication and maintains sensitive credential data within volatile memory (RAM).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360737" y="1674780"/>
            <a:ext cx="3454400" cy="2679700"/>
          </a:xfrm>
          <a:prstGeom prst="rect">
            <a:avLst/>
          </a:prstGeom>
          <a:solidFill>
            <a:srgbClr val="FFFFFF"/>
          </a:solidFill>
          <a:ln w="4313">
            <a:solidFill>
              <a:srgbClr val="1C1917">
                <a:alpha val="20000"/>
              </a:srgbClr>
            </a:solidFill>
            <a:prstDash val="solid"/>
          </a:ln>
          <a:effectLst>
            <a:outerShdw blurRad="9525" dist="4763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0383" y="1935759"/>
            <a:ext cx="406400" cy="406400"/>
          </a:xfrm>
          <a:prstGeom prst="ellipse">
            <a:avLst/>
          </a:prstGeom>
          <a:solidFill>
            <a:srgbClr val="78350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283" y="202465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1088" y="2493900"/>
            <a:ext cx="2933700" cy="457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SAM Database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621088" y="3102871"/>
            <a:ext cx="2933700" cy="990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Security Accounts Manager stores local user credential hashes. In modern systems, this remains encrypted and heavily guarded by the Registry Hive.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8119967" y="1674780"/>
            <a:ext cx="3454400" cy="2679700"/>
          </a:xfrm>
          <a:prstGeom prst="rect">
            <a:avLst/>
          </a:prstGeom>
          <a:solidFill>
            <a:srgbClr val="FFFFFF"/>
          </a:solidFill>
          <a:ln w="4313">
            <a:solidFill>
              <a:srgbClr val="1C1917">
                <a:alpha val="20000"/>
              </a:srgbClr>
            </a:solidFill>
            <a:prstDash val="solid"/>
          </a:ln>
          <a:effectLst>
            <a:outerShdw blurRad="9525" dist="4763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79613" y="1935759"/>
            <a:ext cx="406400" cy="406400"/>
          </a:xfrm>
          <a:prstGeom prst="ellipse">
            <a:avLst/>
          </a:prstGeom>
          <a:solidFill>
            <a:srgbClr val="78350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8514" y="2024659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0317" y="2493900"/>
            <a:ext cx="2933700" cy="457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Trust Chain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380317" y="3102871"/>
            <a:ext cx="2933700" cy="990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Hardware anchors (TPM, UEFI Secure Boot, and VBS) form a cryptographic chain of trust that validates every stage of the boot process.</a:t>
            </a: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601582" y="4962103"/>
            <a:ext cx="10972800" cy="996949"/>
          </a:xfrm>
          <a:prstGeom prst="rect">
            <a:avLst/>
          </a:prstGeom>
          <a:solidFill>
            <a:srgbClr val="1C1917">
              <a:alpha val="5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50012" y="5165304"/>
            <a:ext cx="10521949" cy="5905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i="1" dirty="0">
                <a:solidFill>
                  <a:srgbClr val="1C191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"The integration of hardware and software security has created a unified defensive posture, making component isolation the primary barrier for any bypass attempt."</a:t>
            </a: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1903" y="2493900"/>
            <a:ext cx="2933700" cy="457200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1088" y="2493900"/>
            <a:ext cx="2933700" cy="457200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0317" y="2493900"/>
            <a:ext cx="2933700" cy="457200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582" y="4962103"/>
            <a:ext cx="10972800" cy="99694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FE545D1-0235-76DA-0336-6980165620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sp>
        <p:nvSpPr>
          <p:cNvPr id="27" name="Google Shape;97;p2">
            <a:extLst>
              <a:ext uri="{FF2B5EF4-FFF2-40B4-BE49-F238E27FC236}">
                <a16:creationId xmlns:a16="http://schemas.microsoft.com/office/drawing/2014/main" id="{C36F22D2-81D6-4FB2-A9E0-3132A3E89BF7}"/>
              </a:ext>
            </a:extLst>
          </p:cNvPr>
          <p:cNvSpPr txBox="1"/>
          <p:nvPr/>
        </p:nvSpPr>
        <p:spPr>
          <a:xfrm>
            <a:off x="515566" y="220467"/>
            <a:ext cx="8941281" cy="61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2400"/>
              <a:defRPr/>
            </a:pPr>
            <a:r>
              <a:rPr lang="en-US" sz="3200" b="1" kern="1200" dirty="0">
                <a:solidFill>
                  <a:srgbClr val="FFFFFF"/>
                </a:solidFill>
                <a:sym typeface="Lato"/>
              </a:rPr>
              <a:t>Core </a:t>
            </a:r>
            <a:r>
              <a:rPr lang="en-US" sz="3200" b="1" kern="1200" dirty="0">
                <a:solidFill>
                  <a:srgbClr val="FFFFFF"/>
                </a:solidFill>
                <a:latin typeface="Josefin Sans" pitchFamily="2" charset="0"/>
                <a:sym typeface="Lato"/>
              </a:rPr>
              <a:t>Architectural</a:t>
            </a:r>
            <a:r>
              <a:rPr lang="en-US" sz="3200" b="1" kern="1200" dirty="0">
                <a:solidFill>
                  <a:srgbClr val="FFFFFF"/>
                </a:solidFill>
                <a:sym typeface="Lato"/>
              </a:rPr>
              <a:t> Components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0EF064C-697C-30AA-F522-A057BB41D05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4" grpId="0" animBg="1"/>
      <p:bldP spid="18" grpId="0" animBg="1"/>
      <p:bldP spid="19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8" y="9728"/>
            <a:ext cx="12192000" cy="68580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3" name="Shape 1"/>
          <p:cNvSpPr/>
          <p:nvPr/>
        </p:nvSpPr>
        <p:spPr>
          <a:xfrm>
            <a:off x="-29" y="0"/>
            <a:ext cx="4064000" cy="68580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6" name="Text 4"/>
          <p:cNvSpPr/>
          <p:nvPr/>
        </p:nvSpPr>
        <p:spPr>
          <a:xfrm>
            <a:off x="580222" y="1193769"/>
            <a:ext cx="3048000" cy="1016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F5F5F4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How modern Windows architecture has rendered traditional offline manipulation obsolete through cryptographic enforcement.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6801" y="4597431"/>
            <a:ext cx="30480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78350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2745" y="4597431"/>
            <a:ext cx="1885951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933" b="1" dirty="0">
                <a:solidFill>
                  <a:srgbClr val="F5F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BITLOCKER ENCRYPTION</a:t>
            </a:r>
            <a:endParaRPr lang="en-US" sz="933" dirty="0"/>
          </a:p>
        </p:txBody>
      </p:sp>
      <p:sp>
        <p:nvSpPr>
          <p:cNvPr id="9" name="Text 7"/>
          <p:cNvSpPr/>
          <p:nvPr/>
        </p:nvSpPr>
        <p:spPr>
          <a:xfrm>
            <a:off x="508315" y="5283231"/>
            <a:ext cx="336549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78350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97699" y="5283231"/>
            <a:ext cx="1924051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933" b="1" dirty="0">
                <a:solidFill>
                  <a:srgbClr val="F5F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BOOT INTEGRITY</a:t>
            </a:r>
            <a:endParaRPr lang="en-US" sz="933" dirty="0"/>
          </a:p>
        </p:txBody>
      </p:sp>
      <p:sp>
        <p:nvSpPr>
          <p:cNvPr id="11" name="Text 9"/>
          <p:cNvSpPr/>
          <p:nvPr/>
        </p:nvSpPr>
        <p:spPr>
          <a:xfrm>
            <a:off x="508046" y="5969031"/>
            <a:ext cx="336549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78350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96697" y="5969031"/>
            <a:ext cx="1365249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933" b="1" dirty="0">
                <a:solidFill>
                  <a:srgbClr val="F5F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TPM KEY SEALING</a:t>
            </a:r>
            <a:endParaRPr lang="en-US" sz="933" dirty="0"/>
          </a:p>
        </p:txBody>
      </p:sp>
      <p:sp>
        <p:nvSpPr>
          <p:cNvPr id="13" name="Text 11"/>
          <p:cNvSpPr/>
          <p:nvPr/>
        </p:nvSpPr>
        <p:spPr>
          <a:xfrm>
            <a:off x="4673525" y="1797724"/>
            <a:ext cx="3251200" cy="3111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78350F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Cryptographic Isolation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73525" y="2210069"/>
            <a:ext cx="3251200" cy="990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BitLocker Full Disk Encryption (FDE) renders the SAM and Registry files useless without the correct decryption key, which is never stored in plaintext on the disk.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31080" y="1797724"/>
            <a:ext cx="3251200" cy="3111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78350F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Boot Integrity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31080" y="2210069"/>
            <a:ext cx="3251200" cy="990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Secure Boot ensures only signed, trusted Microsoft code loads during startup, preventing the injection of rogue bootloaders or kernels designed to bypass login.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73631" y="4432555"/>
            <a:ext cx="6908800" cy="1454151"/>
          </a:xfrm>
          <a:prstGeom prst="roundRect">
            <a:avLst>
              <a:gd name="adj" fmla="val 732"/>
            </a:avLst>
          </a:prstGeom>
          <a:ln w="8626">
            <a:solidFill>
              <a:srgbClr val="1C19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0366" y="4314219"/>
            <a:ext cx="3628446" cy="254000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C191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TPM ENFORCEMENT MECHANISM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91131" y="4749128"/>
            <a:ext cx="6273800" cy="254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The Trusted Platform Module (TPM) seals the BitLocker key.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91131" y="5105283"/>
            <a:ext cx="6273800" cy="4635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the system detects any unauthorized change to the boot files or BIOS configuration (Platform Configuration Registers), the TPM refuses to release the key, locking the entire drive.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DE27A63-FB71-AC55-A24C-BCEE96B04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sp>
        <p:nvSpPr>
          <p:cNvPr id="22" name="Google Shape;97;p2">
            <a:extLst>
              <a:ext uri="{FF2B5EF4-FFF2-40B4-BE49-F238E27FC236}">
                <a16:creationId xmlns:a16="http://schemas.microsoft.com/office/drawing/2014/main" id="{0C121017-2C71-CCF2-CDAC-E76A7625DEEF}"/>
              </a:ext>
            </a:extLst>
          </p:cNvPr>
          <p:cNvSpPr txBox="1"/>
          <p:nvPr/>
        </p:nvSpPr>
        <p:spPr>
          <a:xfrm>
            <a:off x="418289" y="220467"/>
            <a:ext cx="9038558" cy="61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2400"/>
              <a:defRPr/>
            </a:pPr>
            <a:r>
              <a:rPr lang="en-US" sz="3200" b="1" dirty="0">
                <a:solidFill>
                  <a:srgbClr val="F5F5F4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Hardware Anchored Defense</a:t>
            </a:r>
            <a:endParaRPr lang="en-US" sz="3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FBA650E-4753-1577-7D15-AEAD7F04D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257"/>
            <a:ext cx="12192000" cy="6858000"/>
          </a:xfrm>
          <a:prstGeom prst="rect">
            <a:avLst/>
          </a:prstGeom>
          <a:solidFill>
            <a:srgbClr val="F5F5F4"/>
          </a:solidFill>
          <a:ln w="8626">
            <a:solidFill>
              <a:srgbClr val="1C191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3840" y="722208"/>
            <a:ext cx="10947400" cy="1111249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721894" y="722058"/>
            <a:ext cx="5530849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933" b="1" dirty="0">
                <a:solidFill>
                  <a:srgbClr val="7835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 03 // CLASSIFICATION</a:t>
            </a:r>
            <a:endParaRPr lang="en-US" sz="933" dirty="0"/>
          </a:p>
        </p:txBody>
      </p:sp>
      <p:sp>
        <p:nvSpPr>
          <p:cNvPr id="6" name="Shape 4"/>
          <p:cNvSpPr/>
          <p:nvPr/>
        </p:nvSpPr>
        <p:spPr>
          <a:xfrm>
            <a:off x="722672" y="1710671"/>
            <a:ext cx="5270500" cy="2292351"/>
          </a:xfrm>
          <a:prstGeom prst="rect">
            <a:avLst/>
          </a:prstGeom>
          <a:solidFill>
            <a:srgbClr val="FFFFFF"/>
          </a:solidFill>
          <a:ln w="4313">
            <a:solidFill>
              <a:srgbClr val="1C1917">
                <a:alpha val="10000"/>
              </a:srgbClr>
            </a:solidFill>
            <a:prstDash val="solid"/>
          </a:ln>
          <a:effectLst>
            <a:outerShdw blurRad="71438" dist="47625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613" y="1614957"/>
            <a:ext cx="1231900" cy="266700"/>
          </a:xfrm>
          <a:prstGeom prst="rect">
            <a:avLst/>
          </a:prstGeom>
          <a:solidFill>
            <a:srgbClr val="78350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OFFLINE ATTACKS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222" y="2021837"/>
            <a:ext cx="4851400" cy="4000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Media-Dependent Entry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32222" y="2574287"/>
            <a:ext cx="4851400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Requires physical access and the ability to boot from external media (USB/PXE) to modify system files directly.</a:t>
            </a: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978" y="3272757"/>
            <a:ext cx="190500" cy="1905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22434" y="3292213"/>
            <a:ext cx="4361243" cy="26027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Direct SAM database modification (e.g., clearing passwords)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978" y="3583847"/>
            <a:ext cx="190500" cy="1905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22076" y="3603303"/>
            <a:ext cx="3923856" cy="26027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Replacement of system binaries (Utilman/Sethc)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21504" y="4536738"/>
            <a:ext cx="5270500" cy="1251586"/>
          </a:xfrm>
          <a:prstGeom prst="rect">
            <a:avLst/>
          </a:prstGeom>
          <a:solidFill>
            <a:srgbClr val="1C1917">
              <a:alpha val="5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945730" y="4790285"/>
            <a:ext cx="4845049" cy="177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FORENSIC IMPACT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45730" y="5146336"/>
            <a:ext cx="4845049" cy="355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100" i="1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Highly destructive; leaves significant footprints and often corrupts user profile integrity.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740" y="1710671"/>
            <a:ext cx="5270500" cy="2292351"/>
          </a:xfrm>
          <a:prstGeom prst="rect">
            <a:avLst/>
          </a:prstGeom>
          <a:solidFill>
            <a:srgbClr val="FFFFFF"/>
          </a:solidFill>
          <a:ln w="4313">
            <a:solidFill>
              <a:srgbClr val="1C1917">
                <a:alpha val="10000"/>
              </a:srgbClr>
            </a:solidFill>
            <a:prstDash val="solid"/>
          </a:ln>
          <a:effectLst>
            <a:outerShdw blurRad="71438" dist="47625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303244" y="1614957"/>
            <a:ext cx="1536700" cy="266700"/>
          </a:xfrm>
          <a:prstGeom prst="rect">
            <a:avLst/>
          </a:prstGeom>
          <a:solidFill>
            <a:srgbClr val="1C191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ONLINE / LIVE ATTACKS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610290" y="2021837"/>
            <a:ext cx="4851400" cy="4000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Runtime Exploitation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610290" y="2574287"/>
            <a:ext cx="4851400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Focuses on exploiting active OS processes or hardware vulnerabilities while the system is operational.</a:t>
            </a:r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048" y="3272757"/>
            <a:ext cx="190500" cy="1905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00488" y="3292214"/>
            <a:ext cx="3731844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Memory injection targeting the LSASS process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048" y="3583847"/>
            <a:ext cx="190500" cy="1905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00157" y="3603304"/>
            <a:ext cx="355258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Protocol-level exploits and session hijacking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399572" y="4536738"/>
            <a:ext cx="5270500" cy="1251586"/>
          </a:xfrm>
          <a:prstGeom prst="rect">
            <a:avLst/>
          </a:prstGeom>
          <a:solidFill>
            <a:srgbClr val="78350F">
              <a:alpha val="1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6623799" y="4790285"/>
            <a:ext cx="4845049" cy="177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1C19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ADVANTAGE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623799" y="5146336"/>
            <a:ext cx="4845049" cy="355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100" i="1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Favored by Red Teams as they preserve RAM state and maintain access to critical forensic artifacts.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255" y="295760"/>
            <a:ext cx="10947400" cy="1111249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1504" y="4536738"/>
            <a:ext cx="5270500" cy="1251586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99572" y="4536737"/>
            <a:ext cx="5270500" cy="125158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15D4AF0-669F-8A50-D970-42A78F9635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E8C0403-7919-3B03-BEAF-2C4B77CF7F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635373" y="295760"/>
            <a:ext cx="6632217" cy="6540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chemeClr val="bg1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Taxonomy of Bypass Techniques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4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29" y="0"/>
            <a:ext cx="4064000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029" y="0"/>
            <a:ext cx="4064000" cy="685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585" y="1385338"/>
            <a:ext cx="6908800" cy="4254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600" i="1" dirty="0">
                <a:solidFill>
                  <a:srgbClr val="78350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New Frontiers of Authentication Bypass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09600" y="2216151"/>
            <a:ext cx="732816" cy="735017"/>
          </a:xfrm>
          <a:prstGeom prst="roundRect">
            <a:avLst>
              <a:gd name="adj" fmla="val 8333"/>
            </a:avLst>
          </a:prstGeom>
          <a:solidFill>
            <a:srgbClr val="1C1917"/>
          </a:solidFill>
          <a:ln/>
          <a:effectLst>
            <a:outerShdw blurRad="119063" dist="9525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39" y="2424568"/>
            <a:ext cx="304800" cy="304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90467" y="2241423"/>
            <a:ext cx="6096000" cy="3492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Hardware Attacks (DMA)</a:t>
            </a:r>
            <a:endParaRPr lang="en-US" sz="1733" dirty="0">
              <a:latin typeface="Nunito" pitchFamily="2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509923" y="2576665"/>
            <a:ext cx="6096000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C1917"/>
                </a:solidFill>
                <a:latin typeface="Nunito" pitchFamily="2" charset="0"/>
                <a:ea typeface="ui-serif" pitchFamily="34" charset="-122"/>
                <a:cs typeface="ui-serif" pitchFamily="34" charset="-120"/>
              </a:rPr>
              <a:t>Direct Memory Access exploits target live RAM via high-speed ports (Thunderbolt/Firewire), bypassing OS-level memory protections entirely.</a:t>
            </a:r>
            <a:endParaRPr lang="en-US" sz="1200" dirty="0">
              <a:latin typeface="Nunito" pitchFamily="2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609600" y="3512955"/>
            <a:ext cx="732816" cy="735017"/>
          </a:xfrm>
          <a:prstGeom prst="roundRect">
            <a:avLst>
              <a:gd name="adj" fmla="val 8333"/>
            </a:avLst>
          </a:prstGeom>
          <a:solidFill>
            <a:srgbClr val="1C1917"/>
          </a:solidFill>
          <a:ln/>
          <a:effectLst>
            <a:outerShdw blurRad="119063" dist="9525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39" y="3727397"/>
            <a:ext cx="304800" cy="304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90467" y="3538227"/>
            <a:ext cx="6096000" cy="3492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Rogue USB Devices</a:t>
            </a:r>
            <a:endParaRPr lang="en-US" sz="1733" dirty="0">
              <a:latin typeface="Nunito" pitchFamily="2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509923" y="3873465"/>
            <a:ext cx="6096000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C1917"/>
                </a:solidFill>
                <a:latin typeface="Nunito" pitchFamily="2" charset="0"/>
                <a:ea typeface="Nunito" pitchFamily="34" charset="-122"/>
                <a:cs typeface="Nunito" pitchFamily="34" charset="-120"/>
              </a:rPr>
              <a:t>Tools like the LAN Turtle or PoisonTap emulate network adapters to capture NTLMv2 hashes or hijack sessions during the login phase.</a:t>
            </a:r>
            <a:endParaRPr lang="en-US" sz="1200" dirty="0">
              <a:latin typeface="Nunito" pitchFamily="2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609599" y="4809755"/>
            <a:ext cx="732817" cy="735017"/>
          </a:xfrm>
          <a:prstGeom prst="roundRect">
            <a:avLst>
              <a:gd name="adj" fmla="val 8333"/>
            </a:avLst>
          </a:prstGeom>
          <a:solidFill>
            <a:srgbClr val="1C1917"/>
          </a:solidFill>
          <a:ln/>
          <a:effectLst>
            <a:outerShdw blurRad="119063" dist="9525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985" y="4984681"/>
            <a:ext cx="367509" cy="36750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90467" y="4835029"/>
            <a:ext cx="6096000" cy="3492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Windows Hello Vulnerabilities</a:t>
            </a:r>
            <a:endParaRPr lang="en-US" sz="1733" dirty="0">
              <a:latin typeface="Nunito" pitchFamily="2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1509923" y="5170266"/>
            <a:ext cx="6096000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C1917"/>
                </a:solidFill>
                <a:latin typeface="Nunito" pitchFamily="2" charset="0"/>
                <a:ea typeface="Nunito" pitchFamily="34" charset="-122"/>
                <a:cs typeface="Nunito" pitchFamily="34" charset="-120"/>
              </a:rPr>
              <a:t>Biometric spoofing and migration attacks target the convenience layer, exploiting the transition between biometric auth and cryptographic keys.</a:t>
            </a:r>
            <a:endParaRPr lang="en-US" sz="1200" dirty="0">
              <a:latin typeface="Nunito" pitchFamily="2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585" y="1385338"/>
            <a:ext cx="6908800" cy="4254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6BFCA3-6472-8E5E-731E-C976F3E0C3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8C0E2C0-69D2-CB9B-3207-8DE708005C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585" y="247862"/>
            <a:ext cx="6908800" cy="7302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3600" b="1" dirty="0">
                <a:solidFill>
                  <a:schemeClr val="bg1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Advanced Exploits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733AED0-4A3B-CC19-FA4A-053D6F5B1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>
            <a:extLst>
              <a:ext uri="{FF2B5EF4-FFF2-40B4-BE49-F238E27FC236}">
                <a16:creationId xmlns:a16="http://schemas.microsoft.com/office/drawing/2014/main" id="{3002B6AB-CD9C-C5C1-E326-6CBBB6DEF2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4"/>
          </a:solidFill>
          <a:ln/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E17EF1-2278-301B-CF43-35FCAE8DD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sp>
        <p:nvSpPr>
          <p:cNvPr id="4" name="Google Shape;97;p2">
            <a:extLst>
              <a:ext uri="{FF2B5EF4-FFF2-40B4-BE49-F238E27FC236}">
                <a16:creationId xmlns:a16="http://schemas.microsoft.com/office/drawing/2014/main" id="{16F2286F-8BBA-7DD3-F650-F415F36BD031}"/>
              </a:ext>
            </a:extLst>
          </p:cNvPr>
          <p:cNvSpPr txBox="1"/>
          <p:nvPr/>
        </p:nvSpPr>
        <p:spPr>
          <a:xfrm>
            <a:off x="589830" y="269107"/>
            <a:ext cx="8855294" cy="61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2400"/>
              <a:defRPr/>
            </a:pPr>
            <a:r>
              <a:rPr lang="en-US" sz="3200" b="1" kern="1200" dirty="0">
                <a:solidFill>
                  <a:srgbClr val="FFFFFF"/>
                </a:solidFill>
                <a:latin typeface="Josefin Sans" pitchFamily="2" charset="0"/>
                <a:sym typeface="Lato"/>
              </a:rPr>
              <a:t>RESULT &amp; DISCUSSION</a:t>
            </a:r>
            <a:endParaRPr lang="en-US" sz="3200" kern="1200" dirty="0">
              <a:solidFill>
                <a:srgbClr val="FFFFFF"/>
              </a:solidFill>
              <a:latin typeface="Josefin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26760-7BA0-A63B-7AE7-D938F7B81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  <p:sp>
        <p:nvSpPr>
          <p:cNvPr id="29" name="Text 6"/>
          <p:cNvSpPr/>
          <p:nvPr/>
        </p:nvSpPr>
        <p:spPr>
          <a:xfrm>
            <a:off x="748179" y="1420085"/>
            <a:ext cx="4762500" cy="4508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C191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Deprecated Vectors</a:t>
            </a:r>
            <a:endParaRPr lang="en-US" sz="2000" dirty="0"/>
          </a:p>
        </p:txBody>
      </p:sp>
      <p:sp>
        <p:nvSpPr>
          <p:cNvPr id="30" name="Shape 7"/>
          <p:cNvSpPr/>
          <p:nvPr/>
        </p:nvSpPr>
        <p:spPr>
          <a:xfrm>
            <a:off x="748179" y="2072278"/>
            <a:ext cx="4762500" cy="527049"/>
          </a:xfrm>
          <a:prstGeom prst="rect">
            <a:avLst/>
          </a:prstGeom>
          <a:solidFill>
            <a:srgbClr val="FEF2F2"/>
          </a:solidFill>
          <a:ln w="4313">
            <a:solidFill>
              <a:srgbClr val="FECACA"/>
            </a:solidFill>
            <a:prstDash val="solid"/>
          </a:ln>
        </p:spPr>
      </p:sp>
      <p:sp>
        <p:nvSpPr>
          <p:cNvPr id="31" name="Text 8"/>
          <p:cNvSpPr/>
          <p:nvPr/>
        </p:nvSpPr>
        <p:spPr>
          <a:xfrm>
            <a:off x="906284" y="2231028"/>
            <a:ext cx="2235332" cy="2219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chntpw / SAM Editing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32" name="Text 9"/>
          <p:cNvSpPr/>
          <p:nvPr/>
        </p:nvSpPr>
        <p:spPr>
          <a:xfrm>
            <a:off x="4328391" y="2246901"/>
            <a:ext cx="1023911" cy="2095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NEUTRALIZED</a:t>
            </a:r>
            <a:endParaRPr lang="en-US" sz="1000" dirty="0"/>
          </a:p>
        </p:txBody>
      </p:sp>
      <p:sp>
        <p:nvSpPr>
          <p:cNvPr id="33" name="Shape 10"/>
          <p:cNvSpPr/>
          <p:nvPr/>
        </p:nvSpPr>
        <p:spPr>
          <a:xfrm>
            <a:off x="748179" y="2749898"/>
            <a:ext cx="4762500" cy="527049"/>
          </a:xfrm>
          <a:prstGeom prst="rect">
            <a:avLst/>
          </a:prstGeom>
          <a:solidFill>
            <a:srgbClr val="FEF2F2"/>
          </a:solidFill>
          <a:ln w="4313">
            <a:solidFill>
              <a:srgbClr val="FECACA"/>
            </a:solidFill>
            <a:prstDash val="solid"/>
          </a:ln>
        </p:spPr>
      </p:sp>
      <p:sp>
        <p:nvSpPr>
          <p:cNvPr id="34" name="Text 11"/>
          <p:cNvSpPr/>
          <p:nvPr/>
        </p:nvSpPr>
        <p:spPr>
          <a:xfrm>
            <a:off x="906568" y="2908648"/>
            <a:ext cx="2244762" cy="2219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Utilman.exe Hijacking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4328391" y="2924524"/>
            <a:ext cx="1023911" cy="2095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NEUTRALIZED</a:t>
            </a:r>
            <a:endParaRPr lang="en-US" sz="1000" dirty="0"/>
          </a:p>
        </p:txBody>
      </p:sp>
      <p:sp>
        <p:nvSpPr>
          <p:cNvPr id="36" name="Shape 13"/>
          <p:cNvSpPr/>
          <p:nvPr/>
        </p:nvSpPr>
        <p:spPr>
          <a:xfrm>
            <a:off x="748179" y="3427522"/>
            <a:ext cx="4762500" cy="527049"/>
          </a:xfrm>
          <a:prstGeom prst="rect">
            <a:avLst/>
          </a:prstGeom>
          <a:solidFill>
            <a:srgbClr val="FEF2F2"/>
          </a:solidFill>
          <a:ln w="4313">
            <a:solidFill>
              <a:srgbClr val="FECACA"/>
            </a:solidFill>
            <a:prstDash val="solid"/>
          </a:ln>
        </p:spPr>
      </p:sp>
      <p:sp>
        <p:nvSpPr>
          <p:cNvPr id="37" name="Text 14"/>
          <p:cNvSpPr/>
          <p:nvPr/>
        </p:nvSpPr>
        <p:spPr>
          <a:xfrm>
            <a:off x="906373" y="3586272"/>
            <a:ext cx="1358176" cy="2219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PE Unlockers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4261182" y="3602148"/>
            <a:ext cx="1090507" cy="2095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FAILED (22H2+)</a:t>
            </a:r>
            <a:endParaRPr lang="en-US" sz="1000" dirty="0"/>
          </a:p>
        </p:txBody>
      </p:sp>
      <p:sp>
        <p:nvSpPr>
          <p:cNvPr id="39" name="Text 16"/>
          <p:cNvSpPr/>
          <p:nvPr/>
        </p:nvSpPr>
        <p:spPr>
          <a:xfrm>
            <a:off x="760366" y="4452980"/>
            <a:ext cx="4762500" cy="698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i="1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Integrated hardware security models (TPM/BitLocker) have rendered traditional, destructive offline methods largely ineffective on post-2022 Windows versions.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6350121" y="1406145"/>
            <a:ext cx="4762500" cy="4508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C191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Active Defense Mechanisms</a:t>
            </a:r>
            <a:endParaRPr lang="en-US" sz="20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9714" y="2035341"/>
            <a:ext cx="321889" cy="498411"/>
          </a:xfrm>
          <a:prstGeom prst="rect">
            <a:avLst/>
          </a:prstGeom>
        </p:spPr>
      </p:pic>
      <p:sp>
        <p:nvSpPr>
          <p:cNvPr id="42" name="Text 18"/>
          <p:cNvSpPr/>
          <p:nvPr/>
        </p:nvSpPr>
        <p:spPr>
          <a:xfrm>
            <a:off x="6706272" y="2126252"/>
            <a:ext cx="4413251" cy="2095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VBS &amp; Credential Guard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6699924" y="2439076"/>
            <a:ext cx="4856535" cy="355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Shields LSASS memory from kernel-level access using virtualization-based security, preventing memory-scraping tools.</a:t>
            </a:r>
            <a:endParaRPr lang="en-US" sz="1200" dirty="0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286" y="3223054"/>
            <a:ext cx="349268" cy="558829"/>
          </a:xfrm>
          <a:prstGeom prst="rect">
            <a:avLst/>
          </a:prstGeom>
        </p:spPr>
      </p:pic>
      <p:sp>
        <p:nvSpPr>
          <p:cNvPr id="45" name="Text 20"/>
          <p:cNvSpPr/>
          <p:nvPr/>
        </p:nvSpPr>
        <p:spPr>
          <a:xfrm>
            <a:off x="6699923" y="3362806"/>
            <a:ext cx="4419600" cy="2095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C1917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Hardware-Enforced Isolation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6699923" y="3719479"/>
            <a:ext cx="4691165" cy="355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Mandatory TPM 2.0 and Secure Boot ensure the operating system environment is untampered before authentication occurs.</a:t>
            </a:r>
            <a:endParaRPr lang="en-US" sz="1200" dirty="0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8179" y="1420085"/>
            <a:ext cx="4762500" cy="450849"/>
          </a:xfrm>
          <a:prstGeom prst="rect">
            <a:avLst/>
          </a:prstGeom>
        </p:spPr>
      </p:pic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121" y="1406145"/>
            <a:ext cx="4762500" cy="45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01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D2C8622-A819-8DB7-9DFB-FAC8FCE0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0C071AD6-6413-C681-ACFE-4431B7FEA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801"/>
            <a:ext cx="12192000" cy="6858000"/>
          </a:xfrm>
          <a:prstGeom prst="rect">
            <a:avLst/>
          </a:prstGeom>
        </p:spPr>
      </p:pic>
      <p:sp>
        <p:nvSpPr>
          <p:cNvPr id="14" name="Shape 0">
            <a:extLst>
              <a:ext uri="{FF2B5EF4-FFF2-40B4-BE49-F238E27FC236}">
                <a16:creationId xmlns:a16="http://schemas.microsoft.com/office/drawing/2014/main" id="{8F342678-B509-3CE1-02D5-92A9B2800D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4">
              <a:alpha val="9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EDEB2F-7ADB-9402-C2A0-B12B4DC6D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sp>
        <p:nvSpPr>
          <p:cNvPr id="4" name="Google Shape;97;p2">
            <a:extLst>
              <a:ext uri="{FF2B5EF4-FFF2-40B4-BE49-F238E27FC236}">
                <a16:creationId xmlns:a16="http://schemas.microsoft.com/office/drawing/2014/main" id="{DAAD25C2-4E00-BF35-6948-2F3D38792435}"/>
              </a:ext>
            </a:extLst>
          </p:cNvPr>
          <p:cNvSpPr txBox="1"/>
          <p:nvPr/>
        </p:nvSpPr>
        <p:spPr>
          <a:xfrm>
            <a:off x="613276" y="270699"/>
            <a:ext cx="8855294" cy="61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2400"/>
              <a:defRPr/>
            </a:pPr>
            <a:r>
              <a:rPr lang="en-US" sz="3200" b="1" kern="1200" dirty="0">
                <a:solidFill>
                  <a:srgbClr val="FFFFFF"/>
                </a:solidFill>
                <a:latin typeface="Josefin Sans" pitchFamily="2" charset="0"/>
                <a:sym typeface="Lato"/>
              </a:rPr>
              <a:t>CONCLUSION &amp; FUTURE SCOPE</a:t>
            </a:r>
            <a:endParaRPr lang="en-US" sz="3200" kern="1200" dirty="0">
              <a:solidFill>
                <a:srgbClr val="FFFFFF"/>
              </a:solidFill>
              <a:latin typeface="Josefin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05ADE3-8F0B-D4F5-6BB5-764FD1BF2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5C33DCFF-A55A-8867-1055-677DF7E61147}"/>
              </a:ext>
            </a:extLst>
          </p:cNvPr>
          <p:cNvSpPr/>
          <p:nvPr/>
        </p:nvSpPr>
        <p:spPr>
          <a:xfrm>
            <a:off x="1239496" y="3139207"/>
            <a:ext cx="3235359" cy="55108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000" b="1" dirty="0">
                <a:solidFill>
                  <a:srgbClr val="78350F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Intact Bypass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2147B4-52FA-B350-017F-359DBDE5DB4B}"/>
              </a:ext>
            </a:extLst>
          </p:cNvPr>
          <p:cNvSpPr/>
          <p:nvPr/>
        </p:nvSpPr>
        <p:spPr>
          <a:xfrm>
            <a:off x="1239496" y="3643867"/>
            <a:ext cx="3235359" cy="156580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/>
            <a:r>
              <a:rPr lang="en-US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Research is moving toward maintaining the 'Intact' state of the OS, avoiding detection by EDR and preserving system stability during bypass.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5325AC9-25D4-E391-5C68-AFB51C5543D5}"/>
              </a:ext>
            </a:extLst>
          </p:cNvPr>
          <p:cNvSpPr/>
          <p:nvPr/>
        </p:nvSpPr>
        <p:spPr>
          <a:xfrm>
            <a:off x="4626128" y="3139207"/>
            <a:ext cx="3235359" cy="55108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000" b="1" dirty="0">
                <a:solidFill>
                  <a:srgbClr val="78350F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Offensive AI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F4D8A9-B437-B291-F9C7-079D3BD25C3B}"/>
              </a:ext>
            </a:extLst>
          </p:cNvPr>
          <p:cNvSpPr/>
          <p:nvPr/>
        </p:nvSpPr>
        <p:spPr>
          <a:xfrm>
            <a:off x="4626128" y="3643867"/>
            <a:ext cx="3235359" cy="23235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/>
            <a:r>
              <a:rPr lang="en-US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Automated exploit chaining powered by AI to identify transient weaknesses in live system memory and hardware interfaces in real-time.</a:t>
            </a:r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C626F5E-1032-A282-CCB7-BF7201346722}"/>
              </a:ext>
            </a:extLst>
          </p:cNvPr>
          <p:cNvSpPr/>
          <p:nvPr/>
        </p:nvSpPr>
        <p:spPr>
          <a:xfrm>
            <a:off x="8012804" y="3139207"/>
            <a:ext cx="3235359" cy="55108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000" b="1" dirty="0">
                <a:solidFill>
                  <a:srgbClr val="78350F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Protocol Vectors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F68C277-32AE-502E-529A-12A47B0E7374}"/>
              </a:ext>
            </a:extLst>
          </p:cNvPr>
          <p:cNvSpPr/>
          <p:nvPr/>
        </p:nvSpPr>
        <p:spPr>
          <a:xfrm>
            <a:off x="8012804" y="3643867"/>
            <a:ext cx="3235359" cy="23235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/>
            <a:r>
              <a:rPr lang="en-US" dirty="0">
                <a:solidFill>
                  <a:srgbClr val="1C191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Weaknesses in authentication protocols (Kerberos/NTLM) remain viable vectors for circumventing even the most hardened OS configurations.</a:t>
            </a:r>
            <a:endParaRPr lang="en-US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EA0BEEE-36FC-BEE1-3CA4-BFF0DD989ACD}"/>
              </a:ext>
            </a:extLst>
          </p:cNvPr>
          <p:cNvSpPr/>
          <p:nvPr/>
        </p:nvSpPr>
        <p:spPr>
          <a:xfrm>
            <a:off x="836921" y="5259903"/>
            <a:ext cx="10595977" cy="983029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4313">
            <a:solidFill>
              <a:srgbClr val="1C1917">
                <a:alpha val="10000"/>
              </a:srgbClr>
            </a:solidFill>
            <a:prstDash val="solid"/>
          </a:ln>
          <a:effectLst>
            <a:outerShdw blurRad="238125" dist="119063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18E540C-A0A0-0717-443E-220A8DEAF799}"/>
              </a:ext>
            </a:extLst>
          </p:cNvPr>
          <p:cNvSpPr/>
          <p:nvPr/>
        </p:nvSpPr>
        <p:spPr>
          <a:xfrm>
            <a:off x="1201818" y="5489019"/>
            <a:ext cx="9919931" cy="98302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i="1" dirty="0">
                <a:solidFill>
                  <a:srgbClr val="1C191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"The challenge of the next decade is not breaking the lock, but convincing the system that you are the keyholder through protocol and memory manipulation."</a:t>
            </a:r>
            <a:endParaRPr lang="en-US" sz="1600" dirty="0"/>
          </a:p>
        </p:txBody>
      </p:sp>
      <p:sp>
        <p:nvSpPr>
          <p:cNvPr id="48" name="Text 23"/>
          <p:cNvSpPr/>
          <p:nvPr/>
        </p:nvSpPr>
        <p:spPr>
          <a:xfrm>
            <a:off x="836919" y="1240170"/>
            <a:ext cx="10595977" cy="21353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dirty="0">
                <a:solidFill>
                  <a:srgbClr val="78350F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CONCLUSION</a:t>
            </a:r>
            <a:endParaRPr lang="en-US" sz="2400" dirty="0">
              <a:solidFill>
                <a:srgbClr val="78350F"/>
              </a:solidFill>
              <a:latin typeface="Nunito" pitchFamily="2" charset="0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874599" y="1598784"/>
            <a:ext cx="10595977" cy="355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/>
            <a:r>
              <a:rPr lang="en-US" i="1" dirty="0">
                <a:solidFill>
                  <a:schemeClr val="tx2">
                    <a:lumMod val="10000"/>
                  </a:schemeClr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focus has decisively shifted from disk-based attacks to live-state exploitation.</a:t>
            </a:r>
            <a:endParaRPr lang="en-US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F1DA88CB-8557-8B45-764F-7F204671B165}"/>
              </a:ext>
            </a:extLst>
          </p:cNvPr>
          <p:cNvSpPr/>
          <p:nvPr/>
        </p:nvSpPr>
        <p:spPr>
          <a:xfrm>
            <a:off x="875942" y="2644597"/>
            <a:ext cx="10556956" cy="355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dirty="0">
                <a:solidFill>
                  <a:srgbClr val="78350F"/>
                </a:solidFill>
                <a:latin typeface="Nunito" pitchFamily="2" charset="0"/>
                <a:ea typeface="Quicksand" pitchFamily="34" charset="-122"/>
                <a:cs typeface="Quicksand" pitchFamily="34" charset="-120"/>
              </a:rPr>
              <a:t>FUTURE SCOPE</a:t>
            </a:r>
            <a:endParaRPr lang="en-US" sz="2400" dirty="0">
              <a:solidFill>
                <a:srgbClr val="78350F"/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636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CCB06739-2896-ACCB-192D-C5017955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F99A72-06E6-E4A7-72D5-72A79839D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801"/>
            <a:ext cx="12192000" cy="1028504"/>
          </a:xfrm>
          <a:prstGeom prst="rect">
            <a:avLst/>
          </a:prstGeom>
        </p:spPr>
      </p:pic>
      <p:sp>
        <p:nvSpPr>
          <p:cNvPr id="4" name="Google Shape;97;p2">
            <a:extLst>
              <a:ext uri="{FF2B5EF4-FFF2-40B4-BE49-F238E27FC236}">
                <a16:creationId xmlns:a16="http://schemas.microsoft.com/office/drawing/2014/main" id="{BE7FFCD8-A325-AA6D-BC09-56A1BF6B2563}"/>
              </a:ext>
            </a:extLst>
          </p:cNvPr>
          <p:cNvSpPr txBox="1"/>
          <p:nvPr/>
        </p:nvSpPr>
        <p:spPr>
          <a:xfrm>
            <a:off x="613276" y="220467"/>
            <a:ext cx="8855294" cy="61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2400"/>
              <a:defRPr/>
            </a:pPr>
            <a:r>
              <a:rPr lang="en-US" sz="3200" b="1" kern="1200" dirty="0">
                <a:solidFill>
                  <a:srgbClr val="FFFFFF"/>
                </a:solidFill>
                <a:sym typeface="Lato"/>
              </a:rPr>
              <a:t>REFERENCES</a:t>
            </a:r>
            <a:endParaRPr lang="en-US" sz="3200" kern="1200" dirty="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5D7F00-ED24-FDBC-AD68-43EF952869BD}"/>
              </a:ext>
            </a:extLst>
          </p:cNvPr>
          <p:cNvSpPr txBox="1"/>
          <p:nvPr/>
        </p:nvSpPr>
        <p:spPr>
          <a:xfrm>
            <a:off x="674076" y="1458658"/>
            <a:ext cx="1084384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Kim, Y., &amp; Choi, J.</a:t>
            </a:r>
            <a:r>
              <a:rPr lang="en-IN" dirty="0"/>
              <a:t> (n.d.). </a:t>
            </a:r>
            <a:r>
              <a:rPr lang="en-IN" i="1" dirty="0"/>
              <a:t>Security analysis and bypass user authentication bound to device of Windows Hello in the wild</a:t>
            </a:r>
            <a:r>
              <a:rPr lang="en-IN" dirty="0"/>
              <a:t>. Wile</a:t>
            </a:r>
          </a:p>
          <a:p>
            <a:pPr lvl="4"/>
            <a:r>
              <a:rPr lang="en-IN" dirty="0"/>
              <a:t>Peer-reviewed research paper </a:t>
            </a:r>
            <a:r>
              <a:rPr lang="en-IN" dirty="0" err="1"/>
              <a:t>analyzing</a:t>
            </a:r>
            <a:r>
              <a:rPr lang="en-IN" dirty="0"/>
              <a:t> real-world Windows Hello biometric authentication bypass techniques.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Kujanpää, K., et al.</a:t>
            </a:r>
            <a:r>
              <a:rPr lang="en-IN" dirty="0"/>
              <a:t> (n.d.). </a:t>
            </a:r>
            <a:r>
              <a:rPr lang="en-IN" i="1" dirty="0"/>
              <a:t>Automating privilege escalation with deep reinforcement learning</a:t>
            </a:r>
            <a:r>
              <a:rPr lang="en-IN" dirty="0"/>
              <a:t>. </a:t>
            </a:r>
            <a:r>
              <a:rPr lang="en-IN" dirty="0" err="1"/>
              <a:t>arXiv</a:t>
            </a:r>
            <a:r>
              <a:rPr lang="en-IN" dirty="0"/>
              <a:t>.</a:t>
            </a:r>
          </a:p>
          <a:p>
            <a:r>
              <a:rPr lang="en-IN" dirty="0"/>
              <a:t>Preprint exploring automated privilege escalation using deep reinforcement learning in simulated environments.</a:t>
            </a:r>
            <a:br>
              <a:rPr lang="en-IN" dirty="0"/>
            </a:br>
            <a:endParaRPr lang="en-IN" dirty="0"/>
          </a:p>
          <a:p>
            <a:r>
              <a:rPr lang="en-IN" b="1" dirty="0" err="1"/>
              <a:t>Neyaz</a:t>
            </a:r>
            <a:r>
              <a:rPr lang="en-IN" b="1" dirty="0"/>
              <a:t>, A., &amp; Shashidhar, V.</a:t>
            </a:r>
            <a:r>
              <a:rPr lang="en-IN" dirty="0"/>
              <a:t> (n.d.). </a:t>
            </a:r>
            <a:r>
              <a:rPr lang="en-IN" i="1" dirty="0"/>
              <a:t>USB artifact analysis using Windows Event Viewer, registry and file system logs</a:t>
            </a:r>
            <a:r>
              <a:rPr lang="en-IN" dirty="0"/>
              <a:t>. MDPI.</a:t>
            </a:r>
          </a:p>
          <a:p>
            <a:r>
              <a:rPr lang="en-IN" dirty="0"/>
              <a:t>Experimental forensic study identifying USB usage artefacts in Windows systems.</a:t>
            </a:r>
          </a:p>
          <a:p>
            <a:endParaRPr lang="en-IN" dirty="0"/>
          </a:p>
          <a:p>
            <a:r>
              <a:rPr lang="en-IN" b="1" dirty="0"/>
              <a:t>Security Accounts Manager database</a:t>
            </a:r>
            <a:r>
              <a:rPr lang="en-IN" dirty="0"/>
              <a:t>. (n.d.). ScienceDirect.</a:t>
            </a:r>
          </a:p>
          <a:p>
            <a:r>
              <a:rPr lang="en-IN" dirty="0"/>
              <a:t>Technical reference describing the architecture, operation, and security model of the Windows SAM database.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Kim, Y., &amp; Choi, J.</a:t>
            </a:r>
            <a:r>
              <a:rPr lang="en-IN" dirty="0"/>
              <a:t> (n.d.). </a:t>
            </a:r>
            <a:r>
              <a:rPr lang="en-IN" i="1" dirty="0"/>
              <a:t>Security analysis and bypass user authentication bound to device of Windows Hello in the wild</a:t>
            </a:r>
            <a:r>
              <a:rPr lang="en-IN" dirty="0"/>
              <a:t>. IEEE Xplore.</a:t>
            </a:r>
          </a:p>
          <a:p>
            <a:r>
              <a:rPr lang="en-IN" dirty="0"/>
              <a:t>Security analysis highlighting weaknesses in device-bound and biometric authentication mechanisms in Windows Hello.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Chowdhury, R.</a:t>
            </a:r>
            <a:r>
              <a:rPr lang="en-IN" dirty="0"/>
              <a:t> (2021). </a:t>
            </a:r>
            <a:r>
              <a:rPr lang="en-IN" i="1" dirty="0"/>
              <a:t>Windows forensics review</a:t>
            </a:r>
            <a:r>
              <a:rPr lang="en-IN" dirty="0"/>
              <a:t>.</a:t>
            </a:r>
          </a:p>
          <a:p>
            <a:r>
              <a:rPr lang="en-IN" dirty="0"/>
              <a:t>Systematic review summarizing forensic methodologies applicable to Windows operating systems.</a:t>
            </a:r>
          </a:p>
          <a:p>
            <a:endParaRPr lang="en-IN" dirty="0">
              <a:latin typeface="Nunito" pitchFamily="2" charset="0"/>
            </a:endParaRPr>
          </a:p>
          <a:p>
            <a:r>
              <a:rPr lang="en-IN" b="1" dirty="0"/>
              <a:t>Windows Login </a:t>
            </a:r>
            <a:r>
              <a:rPr lang="en-IN" b="1" dirty="0" err="1"/>
              <a:t>Unlocker</a:t>
            </a:r>
            <a:r>
              <a:rPr lang="en-IN" dirty="0"/>
              <a:t>. (n.d.). </a:t>
            </a:r>
            <a:r>
              <a:rPr lang="en-IN" dirty="0" err="1"/>
              <a:t>Taiwebs</a:t>
            </a:r>
            <a:r>
              <a:rPr lang="en-IN" dirty="0"/>
              <a:t>.</a:t>
            </a:r>
          </a:p>
          <a:p>
            <a:r>
              <a:rPr lang="en-IN" dirty="0"/>
              <a:t>Software documentation describing live-boot based techniques for offline Windows credential manipulation.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9DE870-EF2F-F5A6-54D8-B9745D189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693" y="220467"/>
            <a:ext cx="3341078" cy="59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933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99B6A811-476D-B8D0-B9F5-32907C728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4753179-1FE1-15EC-5457-7387E9359719}"/>
              </a:ext>
            </a:extLst>
          </p:cNvPr>
          <p:cNvGrpSpPr/>
          <p:nvPr/>
        </p:nvGrpSpPr>
        <p:grpSpPr>
          <a:xfrm>
            <a:off x="0" y="5536214"/>
            <a:ext cx="12192000" cy="1028504"/>
            <a:chOff x="0" y="-8801"/>
            <a:chExt cx="12192000" cy="102850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FF5BBD-DEE1-FE9B-F951-B4A685A78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8801"/>
              <a:ext cx="12192000" cy="1028504"/>
            </a:xfrm>
            <a:prstGeom prst="rect">
              <a:avLst/>
            </a:prstGeom>
          </p:spPr>
        </p:pic>
        <p:sp>
          <p:nvSpPr>
            <p:cNvPr id="4" name="Google Shape;97;p2">
              <a:extLst>
                <a:ext uri="{FF2B5EF4-FFF2-40B4-BE49-F238E27FC236}">
                  <a16:creationId xmlns:a16="http://schemas.microsoft.com/office/drawing/2014/main" id="{57970A36-0D8F-A513-512D-A6CF777FA79B}"/>
                </a:ext>
              </a:extLst>
            </p:cNvPr>
            <p:cNvSpPr txBox="1"/>
            <p:nvPr/>
          </p:nvSpPr>
          <p:spPr>
            <a:xfrm>
              <a:off x="1668353" y="236166"/>
              <a:ext cx="8855294" cy="612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SzPts val="2400"/>
                <a:defRPr/>
              </a:pPr>
              <a:r>
                <a:rPr lang="en-US" sz="3200" b="1" kern="1200" dirty="0">
                  <a:solidFill>
                    <a:srgbClr val="FFFFFF"/>
                  </a:solidFill>
                  <a:sym typeface="Lato"/>
                </a:rPr>
                <a:t>THANK YOU</a:t>
              </a:r>
              <a:endParaRPr lang="en-US" sz="3200" kern="1200" dirty="0">
                <a:solidFill>
                  <a:srgbClr val="FFFFFF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EC44EBD-80ED-1299-995E-23CD079E2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404" y="1811238"/>
            <a:ext cx="5148223" cy="167342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C83A85-A9C7-95C9-F2C9-7CF47DA7A2A3}"/>
              </a:ext>
            </a:extLst>
          </p:cNvPr>
          <p:cNvCxnSpPr/>
          <p:nvPr/>
        </p:nvCxnSpPr>
        <p:spPr>
          <a:xfrm>
            <a:off x="4841631" y="1405303"/>
            <a:ext cx="0" cy="2485292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F742043-9189-C656-0E10-7ECD2D8F0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4539" y="1571130"/>
            <a:ext cx="2231980" cy="223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37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4203</TotalTime>
  <Words>2225</Words>
  <Application>Microsoft Office PowerPoint</Application>
  <PresentationFormat>Widescreen</PresentationFormat>
  <Paragraphs>345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Arial</vt:lpstr>
      <vt:lpstr>Josefin Sans</vt:lpstr>
      <vt:lpstr>Courier New</vt:lpstr>
      <vt:lpstr>Lora</vt:lpstr>
      <vt:lpstr>Lato</vt:lpstr>
      <vt:lpstr>Playfair Display</vt:lpstr>
      <vt:lpstr>Roboto</vt:lpstr>
      <vt:lpstr>ui-serif</vt:lpstr>
      <vt:lpstr>Montserrat</vt:lpstr>
      <vt:lpstr>Calibri</vt:lpstr>
      <vt:lpstr>Raleway</vt:lpstr>
      <vt:lpstr>Nunito</vt:lpstr>
      <vt:lpstr>Open Sans</vt:lpstr>
      <vt:lpstr>Office Theme</vt:lpstr>
      <vt:lpstr>1_Office Theme</vt:lpstr>
      <vt:lpstr> Presentation  on  Windows Bypass Techniques: A Red Teamer’s Perspective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on  Synopsis  for  Doctoral Research</dc:title>
  <dc:creator>Dell</dc:creator>
  <cp:lastModifiedBy>Atharva Jagtap</cp:lastModifiedBy>
  <cp:revision>956</cp:revision>
  <cp:lastPrinted>2024-03-14T03:52:06Z</cp:lastPrinted>
  <dcterms:created xsi:type="dcterms:W3CDTF">2022-08-01T06:21:46Z</dcterms:created>
  <dcterms:modified xsi:type="dcterms:W3CDTF">2026-01-08T09:44:00Z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5473780D950247ECBDDE6B5AA9F78959</vt:lpwstr>
  </property>
  <property fmtid="{D5CDD505-2E9C-101B-9397-08002B2CF9AE}" pid="3" name="KSOProductBuildVer">
    <vt:lpwstr>1033-11.2.0.11191</vt:lpwstr>
  </property>
</Properties>
</file>